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ContentType="application/x-fontdata" Extension="f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8229600" cy="10287000"/>
  <p:notesSz cx="10287000" cy="8229600"/>
  <p:embeddedFontLst>
    <p:embeddedFont>
      <p:font typeface="JetBrains Mono Medium"/>
      <p:regular r:id="rId14"/>
      <p:bold r:id="rId15"/>
      <p:italic r:id="rId16"/>
      <p:boldItalic r:id="rId17"/>
    </p:embeddedFont>
    <p:embeddedFont>
      <p:font typeface="Urbanist"/>
      <p:regular r:id="rId18"/>
      <p:bold r:id="rId19"/>
      <p:italic r:id="rId20"/>
      <p:boldItalic r:id="rId21"/>
    </p:embeddedFont>
    <p:embeddedFont>
      <p:font typeface="Libre Baskerville"/>
      <p:regular r:id="rId22"/>
      <p:bold r:id="rId23"/>
      <p:italic r:id="rId24"/>
      <p:boldItalic r:id="rId25"/>
    </p:embeddedFont>
    <p:embeddedFont>
      <p:font typeface="Ubuntu Mono"/>
      <p:regular r:id="rId26"/>
      <p:bold r:id="rId27"/>
      <p:italic r:id="rId28"/>
      <p:boldItalic r:id="rId2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font" Target="fonts/JetBrainsMonoMedium-regular.fntdata"/><Relationship Id="rId15" Type="http://schemas.openxmlformats.org/officeDocument/2006/relationships/font" Target="fonts/JetBrainsMonoMedium-bold.fntdata"/><Relationship Id="rId16" Type="http://schemas.openxmlformats.org/officeDocument/2006/relationships/font" Target="fonts/JetBrainsMonoMedium-italic.fntdata"/><Relationship Id="rId17" Type="http://schemas.openxmlformats.org/officeDocument/2006/relationships/font" Target="fonts/JetBrainsMonoMedium-boldItalic.fntdata"/><Relationship Id="rId18" Type="http://schemas.openxmlformats.org/officeDocument/2006/relationships/font" Target="fonts/Urbanist-regular.fntdata"/><Relationship Id="rId19" Type="http://schemas.openxmlformats.org/officeDocument/2006/relationships/font" Target="fonts/Urbanist-bold.fntdata"/><Relationship Id="rId20" Type="http://schemas.openxmlformats.org/officeDocument/2006/relationships/font" Target="fonts/Urbanist-italic.fntdata"/><Relationship Id="rId21" Type="http://schemas.openxmlformats.org/officeDocument/2006/relationships/font" Target="fonts/Urbanist-boldItalic.fntdata"/><Relationship Id="rId22" Type="http://schemas.openxmlformats.org/officeDocument/2006/relationships/font" Target="fonts/LibreBaskerville-regular.fntdata"/><Relationship Id="rId23" Type="http://schemas.openxmlformats.org/officeDocument/2006/relationships/font" Target="fonts/LibreBaskerville-bold.fntdata"/><Relationship Id="rId24" Type="http://schemas.openxmlformats.org/officeDocument/2006/relationships/font" Target="fonts/LibreBaskerville-italic.fntdata"/><Relationship Id="rId25" Type="http://schemas.openxmlformats.org/officeDocument/2006/relationships/font" Target="fonts/LibreBaskerville-boldItalic.fntdata"/><Relationship Id="rId26" Type="http://schemas.openxmlformats.org/officeDocument/2006/relationships/font" Target="fonts/UbuntuMono-regular.fntdata"/><Relationship Id="rId27" Type="http://schemas.openxmlformats.org/officeDocument/2006/relationships/font" Target="fonts/UbuntuMono-bold.fntdata"/><Relationship Id="rId28" Type="http://schemas.openxmlformats.org/officeDocument/2006/relationships/font" Target="fonts/UbuntuMono-italic.fntdata"/><Relationship Id="rId29" Type="http://schemas.openxmlformats.org/officeDocument/2006/relationships/font" Target="fonts/UbuntuMono-boldItalic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image" Target="../media/image-1-1.png"/><Relationship Id="rId4" Type="http://schemas.openxmlformats.org/officeDocument/2006/relationships/image" Target="../media/image-1-1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image" Target="../media/image-7-1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7452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97180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06908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16636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636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74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718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0690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636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7452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69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6636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636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7452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6908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6636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7452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97180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06908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6636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636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7452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97180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06908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6636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636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87452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97180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06908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6636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636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7452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7180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6908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16636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636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pic>
        <p:nvPicPr>
          <p:cNvPr id="50" name="Image 0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51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2" y="320040"/>
            <a:ext cx="292608" cy="292608"/>
          </a:xfrm>
          <a:prstGeom prst="rect">
            <a:avLst/>
          </a:prstGeom>
        </p:spPr>
      </p:pic>
      <p:pic>
        <p:nvPicPr>
          <p:cNvPr id="52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320040" y="9674352"/>
            <a:ext cx="292608" cy="292608"/>
          </a:xfrm>
          <a:prstGeom prst="rect">
            <a:avLst/>
          </a:prstGeom>
        </p:spPr>
      </p:pic>
      <p:pic>
        <p:nvPicPr>
          <p:cNvPr id="53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7616952" y="9674352"/>
            <a:ext cx="292608" cy="29260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31520" y="329184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CONSUMER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4400" dirty="0"/>
          </a:p>
        </p:txBody>
      </p:sp>
      <p:sp>
        <p:nvSpPr>
          <p:cNvPr id="55" name="Text 49"/>
          <p:cNvSpPr/>
          <p:nvPr/>
        </p:nvSpPr>
        <p:spPr>
          <a:xfrm>
            <a:off x="731520" y="5577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edição</a:t>
            </a:r>
            <a:endParaRPr lang="en-US" sz="1600" dirty="0"/>
          </a:p>
        </p:txBody>
      </p:sp>
      <p:sp>
        <p:nvSpPr>
          <p:cNvPr id="56" name="Text 50"/>
          <p:cNvSpPr/>
          <p:nvPr/>
        </p:nvSpPr>
        <p:spPr>
          <a:xfrm>
            <a:off x="731520" y="59436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AGOSTO_26</a:t>
            </a:r>
            <a:endParaRPr lang="en-US" sz="3000" dirty="0"/>
          </a:p>
        </p:txBody>
      </p:sp>
      <p:pic>
        <p:nvPicPr>
          <p:cNvPr id="57" name="Image 4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8915400"/>
            <a:ext cx="2377440" cy="71266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ata-manipulation-exercises/f19acac8-ccb4-5197-8e49-c3b6029ad477/scratchpad/report-images/final/ig-hiper-realid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82296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8229600" cy="4937760"/>
          </a:xfrm>
          <a:prstGeom prst="rect">
            <a:avLst/>
          </a:prstGeom>
          <a:solidFill>
            <a:srgbClr val="000000">
              <a:alpha val="68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1600" dirty="0"/>
          </a:p>
        </p:txBody>
      </p:sp>
      <p:pic>
        <p:nvPicPr>
          <p:cNvPr id="9" name="Image 1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9656" y="1374343"/>
            <a:ext cx="268834" cy="26883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HIPER-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REALIDADE</a:t>
            </a:r>
            <a:endParaRPr lang="en-US" sz="4000" dirty="0"/>
          </a:p>
        </p:txBody>
      </p:sp>
      <p:sp>
        <p:nvSpPr>
          <p:cNvPr id="11" name="Shape 7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000000">
              <a:alpha val="78000"/>
            </a:srgbClr>
          </a:solidFill>
          <a:ln/>
        </p:spPr>
      </p:sp>
      <p:sp>
        <p:nvSpPr>
          <p:cNvPr id="12" name="Text 8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ou offline? Pra Geração Z, já não faz diferença.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40% dos jovens dizem que “é tudo real”, sem diferenciar o virtual do físico.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 / 5</a:t>
            </a:r>
            <a:endParaRPr lang="en-US" sz="1100" dirty="0"/>
          </a:p>
        </p:txBody>
      </p:sp>
      <p:pic>
        <p:nvPicPr>
          <p:cNvPr id="15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7223760" y="928116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NEWS</a:t>
            </a:r>
            <a:endParaRPr lang="en-US" sz="1600" dirty="0"/>
          </a:p>
        </p:txBody>
      </p:sp>
      <p:pic>
        <p:nvPicPr>
          <p:cNvPr id="7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9656" y="1374343"/>
            <a:ext cx="268834" cy="2688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AGENTIC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SEARCH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marca já apareceu numa resposta de IA hoje?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Buscas por IA para descobrir produtos cresceram 200% em 1 ano.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 / 5</a:t>
            </a:r>
            <a:endParaRPr lang="en-US" sz="1100" dirty="0"/>
          </a:p>
        </p:txBody>
      </p:sp>
      <p:pic>
        <p:nvPicPr>
          <p:cNvPr id="13" name="Image 1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223760" y="928116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ata-manipulation-exercises/f19acac8-ccb4-5197-8e49-c3b6029ad477/scratchpad/report-images/final/ig-sem-ressac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82296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8229600" cy="4937760"/>
          </a:xfrm>
          <a:prstGeom prst="rect">
            <a:avLst/>
          </a:prstGeom>
          <a:solidFill>
            <a:srgbClr val="000000">
              <a:alpha val="68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1600" dirty="0"/>
          </a:p>
        </p:txBody>
      </p:sp>
      <p:pic>
        <p:nvPicPr>
          <p:cNvPr id="9" name="Image 1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9656" y="1374343"/>
            <a:ext cx="268834" cy="26883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GERAÇÃO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SEM RESSACA</a:t>
            </a:r>
            <a:endParaRPr lang="en-US" sz="4000" dirty="0"/>
          </a:p>
        </p:txBody>
      </p:sp>
      <p:sp>
        <p:nvSpPr>
          <p:cNvPr id="11" name="Shape 7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000000">
              <a:alpha val="78000"/>
            </a:srgbClr>
          </a:solidFill>
          <a:ln/>
        </p:spPr>
      </p:sp>
      <p:sp>
        <p:nvSpPr>
          <p:cNvPr id="12" name="Text 8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Beber menos virou parte da experiência — não o fim dela.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64% dos brasileiros declararam não consumir álcool em 2025.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 / 5</a:t>
            </a:r>
            <a:endParaRPr lang="en-US" sz="1100" dirty="0"/>
          </a:p>
        </p:txBody>
      </p:sp>
      <p:pic>
        <p:nvPicPr>
          <p:cNvPr id="15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7223760" y="928116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ata-manipulation-exercises/f19acac8-ccb4-5197-8e49-c3b6029ad477/scratchpad/report-images/final/ig-sport-fand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82296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8229600" cy="4937760"/>
          </a:xfrm>
          <a:prstGeom prst="rect">
            <a:avLst/>
          </a:prstGeom>
          <a:solidFill>
            <a:srgbClr val="000000">
              <a:alpha val="68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1600" dirty="0"/>
          </a:p>
        </p:txBody>
      </p:sp>
      <p:pic>
        <p:nvPicPr>
          <p:cNvPr id="9" name="Image 1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9656" y="1374343"/>
            <a:ext cx="268834" cy="26883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NEW-WAVE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SPORT FANDOM</a:t>
            </a:r>
            <a:endParaRPr lang="en-US" sz="4000" dirty="0"/>
          </a:p>
        </p:txBody>
      </p:sp>
      <p:sp>
        <p:nvSpPr>
          <p:cNvPr id="11" name="Shape 7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000000">
              <a:alpha val="78000"/>
            </a:srgbClr>
          </a:solidFill>
          <a:ln/>
        </p:spPr>
      </p:sp>
      <p:sp>
        <p:nvSpPr>
          <p:cNvPr id="12" name="Text 8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esporte tem uma nova torcida: jovem, feminina e apaixonada por estilo.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 em cada 4 novos fãs de Fórmula 1 são mulheres.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 / 5</a:t>
            </a:r>
            <a:endParaRPr lang="en-US" sz="1100" dirty="0"/>
          </a:p>
        </p:txBody>
      </p:sp>
      <p:pic>
        <p:nvPicPr>
          <p:cNvPr id="15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7223760" y="928116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ata-manipulation-exercises/f19acac8-ccb4-5197-8e49-c3b6029ad477/scratchpad/report-images/final/ig-experiencias-transformadora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82296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8229600" cy="4937760"/>
          </a:xfrm>
          <a:prstGeom prst="rect">
            <a:avLst/>
          </a:prstGeom>
          <a:solidFill>
            <a:srgbClr val="000000">
              <a:alpha val="68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1600" dirty="0"/>
          </a:p>
        </p:txBody>
      </p:sp>
      <p:pic>
        <p:nvPicPr>
          <p:cNvPr id="9" name="Image 1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9656" y="1374343"/>
            <a:ext cx="268834" cy="26883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EXPERIÊNCIAS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TRANSFORMADORAS</a:t>
            </a:r>
            <a:endParaRPr lang="en-US" sz="4000" dirty="0"/>
          </a:p>
        </p:txBody>
      </p:sp>
      <p:sp>
        <p:nvSpPr>
          <p:cNvPr id="11" name="Shape 7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000000">
              <a:alpha val="78000"/>
            </a:srgbClr>
          </a:solidFill>
          <a:ln/>
        </p:spPr>
      </p:sp>
      <p:sp>
        <p:nvSpPr>
          <p:cNvPr id="12" name="Text 8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Marcas não vendem mais momentos. Vendem transformação.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88% das pessoas buscam hoje vivências com propósito.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 / 5</a:t>
            </a:r>
            <a:endParaRPr lang="en-US" sz="1100" dirty="0"/>
          </a:p>
        </p:txBody>
      </p:sp>
      <p:pic>
        <p:nvPicPr>
          <p:cNvPr id="15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7223760" y="928116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7452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97180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06908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16636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636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74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718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0690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636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7452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69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6636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636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7452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6908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6636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7452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97180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06908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6636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636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7452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97180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06908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6636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636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87452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97180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06908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6636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636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7452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7180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6908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16636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636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pic>
        <p:nvPicPr>
          <p:cNvPr id="50" name="Image 0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51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2" y="320040"/>
            <a:ext cx="292608" cy="292608"/>
          </a:xfrm>
          <a:prstGeom prst="rect">
            <a:avLst/>
          </a:prstGeom>
        </p:spPr>
      </p:pic>
      <p:pic>
        <p:nvPicPr>
          <p:cNvPr id="52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320040" y="9674352"/>
            <a:ext cx="292608" cy="292608"/>
          </a:xfrm>
          <a:prstGeom prst="rect">
            <a:avLst/>
          </a:prstGeom>
        </p:spPr>
      </p:pic>
      <p:pic>
        <p:nvPicPr>
          <p:cNvPr id="53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7616952" y="9674352"/>
            <a:ext cx="292608" cy="29260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31520" y="3474720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Esse é só um recorte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do nosso .report mensal.</a:t>
            </a:r>
            <a:endParaRPr lang="en-US" sz="3000" dirty="0"/>
          </a:p>
        </p:txBody>
      </p:sp>
      <p:sp>
        <p:nvSpPr>
          <p:cNvPr id="55" name="Text 49"/>
          <p:cNvSpPr/>
          <p:nvPr/>
        </p:nvSpPr>
        <p:spPr>
          <a:xfrm>
            <a:off x="731520" y="5486400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 receber a análise completa de tendências,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novidades de plataformas e comportamento do consumidor,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mês?</a:t>
            </a:r>
            <a:endParaRPr lang="en-US" sz="1500" dirty="0"/>
          </a:p>
        </p:txBody>
      </p:sp>
      <p:sp>
        <p:nvSpPr>
          <p:cNvPr id="56" name="Text 50"/>
          <p:cNvSpPr/>
          <p:nvPr/>
        </p:nvSpPr>
        <p:spPr>
          <a:xfrm>
            <a:off x="731520" y="7315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Fala com a gente → @arpejo</a:t>
            </a:r>
            <a:endParaRPr lang="en-US" sz="1600" dirty="0"/>
          </a:p>
        </p:txBody>
      </p:sp>
      <p:pic>
        <p:nvPicPr>
          <p:cNvPr id="57" name="Image 4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8915400"/>
            <a:ext cx="2377440" cy="7126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2026-08-10T18:35:47Z</dcterms:created>
  <dcterms:modified xsi:type="dcterms:W3CDTF">2026-08-10T18:35:47Z</dcterms:modified>
</cp:coreProperties>
</file>