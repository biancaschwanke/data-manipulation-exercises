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ContentType="application/x-fontdata" Extension="f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8229600" cy="10287000"/>
  <p:notesSz cx="10287000" cy="8229600"/>
  <p:embeddedFontLst>
    <p:embeddedFont>
      <p:font typeface="JetBrains Mono Medium"/>
      <p:regular r:id="rId14"/>
      <p:bold r:id="rId15"/>
      <p:italic r:id="rId16"/>
      <p:boldItalic r:id="rId17"/>
    </p:embeddedFont>
    <p:embeddedFont>
      <p:font typeface="Urbanist"/>
      <p:regular r:id="rId18"/>
      <p:bold r:id="rId19"/>
      <p:italic r:id="rId20"/>
      <p:boldItalic r:id="rId21"/>
    </p:embeddedFont>
    <p:embeddedFont>
      <p:font typeface="Libre Baskerville"/>
      <p:regular r:id="rId22"/>
      <p:bold r:id="rId23"/>
      <p:italic r:id="rId24"/>
      <p:boldItalic r:id="rId25"/>
    </p:embeddedFont>
    <p:embeddedFont>
      <p:font typeface="Ubuntu Mono"/>
      <p:regular r:id="rId26"/>
      <p:bold r:id="rId27"/>
      <p:italic r:id="rId28"/>
      <p:boldItalic r:id="rId2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font" Target="fonts/JetBrainsMonoMedium-regular.fntdata"/><Relationship Id="rId15" Type="http://schemas.openxmlformats.org/officeDocument/2006/relationships/font" Target="fonts/JetBrainsMonoMedium-bold.fntdata"/><Relationship Id="rId16" Type="http://schemas.openxmlformats.org/officeDocument/2006/relationships/font" Target="fonts/JetBrainsMonoMedium-italic.fntdata"/><Relationship Id="rId17" Type="http://schemas.openxmlformats.org/officeDocument/2006/relationships/font" Target="fonts/JetBrainsMonoMedium-boldItalic.fntdata"/><Relationship Id="rId18" Type="http://schemas.openxmlformats.org/officeDocument/2006/relationships/font" Target="fonts/Urbanist-regular.fntdata"/><Relationship Id="rId19" Type="http://schemas.openxmlformats.org/officeDocument/2006/relationships/font" Target="fonts/Urbanist-bold.fntdata"/><Relationship Id="rId20" Type="http://schemas.openxmlformats.org/officeDocument/2006/relationships/font" Target="fonts/Urbanist-italic.fntdata"/><Relationship Id="rId21" Type="http://schemas.openxmlformats.org/officeDocument/2006/relationships/font" Target="fonts/Urbanist-boldItalic.fntdata"/><Relationship Id="rId22" Type="http://schemas.openxmlformats.org/officeDocument/2006/relationships/font" Target="fonts/LibreBaskerville-regular.fntdata"/><Relationship Id="rId23" Type="http://schemas.openxmlformats.org/officeDocument/2006/relationships/font" Target="fonts/LibreBaskerville-bold.fntdata"/><Relationship Id="rId24" Type="http://schemas.openxmlformats.org/officeDocument/2006/relationships/font" Target="fonts/LibreBaskerville-italic.fntdata"/><Relationship Id="rId25" Type="http://schemas.openxmlformats.org/officeDocument/2006/relationships/font" Target="fonts/LibreBaskerville-boldItalic.fntdata"/><Relationship Id="rId26" Type="http://schemas.openxmlformats.org/officeDocument/2006/relationships/font" Target="fonts/UbuntuMono-regular.fntdata"/><Relationship Id="rId27" Type="http://schemas.openxmlformats.org/officeDocument/2006/relationships/font" Target="fonts/UbuntuMono-bold.fntdata"/><Relationship Id="rId28" Type="http://schemas.openxmlformats.org/officeDocument/2006/relationships/font" Target="fonts/UbuntuMono-italic.fntdata"/><Relationship Id="rId29" Type="http://schemas.openxmlformats.org/officeDocument/2006/relationships/font" Target="fonts/UbuntuMono-boldItalic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image" Target="../media/image-7-1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33172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88620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4068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99516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33172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88620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4068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995160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33172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8620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4068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95160" y="3246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4480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331720" y="4480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86200" y="4480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40680" y="4480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995160" y="4480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77240" y="5715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331720" y="5715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886200" y="5715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40680" y="5715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95160" y="5715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77240" y="6949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331720" y="6949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886200" y="6949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40680" y="6949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95160" y="6949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77240" y="8183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331720" y="8183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886200" y="8183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440680" y="8183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995160" y="8183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77240" y="9418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331720" y="9418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886200" y="9418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440680" y="9418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995160" y="9418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200" dirty="0"/>
          </a:p>
        </p:txBody>
      </p:sp>
      <p:pic>
        <p:nvPicPr>
          <p:cNvPr id="42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685800"/>
            <a:ext cx="502920" cy="502920"/>
          </a:xfrm>
          <a:prstGeom prst="rect">
            <a:avLst/>
          </a:prstGeom>
        </p:spPr>
      </p:pic>
      <p:sp>
        <p:nvSpPr>
          <p:cNvPr id="43" name="Text 40"/>
          <p:cNvSpPr/>
          <p:nvPr/>
        </p:nvSpPr>
        <p:spPr>
          <a:xfrm>
            <a:off x="731520" y="64008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CONSUMER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TRENDS</a:t>
            </a:r>
            <a:endParaRPr lang="en-US" sz="3200" dirty="0"/>
          </a:p>
        </p:txBody>
      </p:sp>
      <p:pic>
        <p:nvPicPr>
          <p:cNvPr id="44" name="Image 1" descr="/home/user/data-manipulation-exercises/.claude/skills/arpejo-report-desdobramento/assets/arpejo-report-logo-all-bl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4206240"/>
            <a:ext cx="5394960" cy="1617194"/>
          </a:xfrm>
          <a:prstGeom prst="rect">
            <a:avLst/>
          </a:prstGeom>
        </p:spPr>
      </p:pic>
      <p:pic>
        <p:nvPicPr>
          <p:cNvPr id="45" name="Image 2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8805672"/>
            <a:ext cx="292608" cy="292608"/>
          </a:xfrm>
          <a:prstGeom prst="rect">
            <a:avLst/>
          </a:prstGeom>
        </p:spPr>
      </p:pic>
      <p:sp>
        <p:nvSpPr>
          <p:cNvPr id="46" name="Text 41"/>
          <p:cNvSpPr/>
          <p:nvPr/>
        </p:nvSpPr>
        <p:spPr>
          <a:xfrm>
            <a:off x="1234440" y="873252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 principais tendências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 agosto, no Report.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0116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118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120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6" name="Image 0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923544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365760"/>
            <a:ext cx="7406640" cy="8293608"/>
          </a:xfrm>
          <a:prstGeom prst="roundRect">
            <a:avLst>
              <a:gd name="adj" fmla="val 308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64008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HIPER-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143000"/>
            <a:ext cx="7132320" cy="566928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14300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REALIDADE</a:t>
            </a:r>
            <a:endParaRPr lang="en-US" sz="2000" dirty="0"/>
          </a:p>
        </p:txBody>
      </p:sp>
      <p:pic>
        <p:nvPicPr>
          <p:cNvPr id="11" name="Image 1" descr="/tmp/claude-0/-home-user-data-manipulation-exercises/f19acac8-ccb4-5197-8e49-c3b6029ad477/scratchpad/report-images/final/ig-hiper-realidad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1520" y="1938528"/>
            <a:ext cx="6766560" cy="5029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7242048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ou offline? Pra Geração Z, já não faz diferença.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31520" y="7927848"/>
            <a:ext cx="6766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40% dos jovens dizem que “é tudo real”, sem diferenciar o virtual do físico.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9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011680" y="6629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11880" y="6629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12080" y="6629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6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44752"/>
            <a:ext cx="7406640" cy="2990088"/>
          </a:xfrm>
          <a:prstGeom prst="roundRect">
            <a:avLst>
              <a:gd name="adj" fmla="val 764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719072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FF7C5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AGENTIC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221992"/>
            <a:ext cx="7132320" cy="566928"/>
          </a:xfrm>
          <a:prstGeom prst="ellipse">
            <a:avLst/>
          </a:prstGeom>
          <a:ln w="19050">
            <a:solidFill>
              <a:srgbClr val="FF7C5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2221992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FF7C5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SEARCH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731520" y="3017520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7C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marca já apareceu numa resposta de IA hoje?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3703320"/>
            <a:ext cx="6766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C5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Buscas por IA para descobrir produtos cresceram 200% em 1 ano.</a:t>
            </a:r>
            <a:endParaRPr lang="en-US" sz="1000" dirty="0"/>
          </a:p>
        </p:txBody>
      </p:sp>
      <p:pic>
        <p:nvPicPr>
          <p:cNvPr id="13" name="Image 1" descr="/tmp/claude-0/-home-user-data-manipulation-exercises/f19acac8-ccb4-5197-8e49-c3b6029ad477/scratchpad/report-images/final/ig-agentic-search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4389120"/>
            <a:ext cx="8229600" cy="5897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0116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118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120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6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923544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365760"/>
            <a:ext cx="7406640" cy="8293608"/>
          </a:xfrm>
          <a:prstGeom prst="roundRect">
            <a:avLst>
              <a:gd name="adj" fmla="val 308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64008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GERAÇÃO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143000"/>
            <a:ext cx="7132320" cy="566928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14300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SEM RESSACA</a:t>
            </a:r>
            <a:endParaRPr lang="en-US" sz="2000" dirty="0"/>
          </a:p>
        </p:txBody>
      </p:sp>
      <p:pic>
        <p:nvPicPr>
          <p:cNvPr id="11" name="Image 1" descr="/tmp/claude-0/-home-user-data-manipulation-exercises/f19acac8-ccb4-5197-8e49-c3b6029ad477/scratchpad/report-images/final/ig-sem-ressac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1520" y="1938528"/>
            <a:ext cx="6766560" cy="5029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7242048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Beber menos virou parte da experiência — não o fim dela.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31520" y="7927848"/>
            <a:ext cx="6766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64% dos brasileiros declararam não consumir álcool em 2025.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9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011680" y="6629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11880" y="6629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12080" y="6629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6" name="Image 0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1444752"/>
            <a:ext cx="7406640" cy="2990088"/>
          </a:xfrm>
          <a:prstGeom prst="roundRect">
            <a:avLst>
              <a:gd name="adj" fmla="val 764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1719072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NEW-WAVE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221992"/>
            <a:ext cx="7132320" cy="566928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2221992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SPORT FANDOM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31520" y="3017520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esporte tem uma nova torcida: jovem, feminina e apaixonada por estilo.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3703320"/>
            <a:ext cx="6766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 em cada 4 novos fãs de Fórmula 1 são mulheres.</a:t>
            </a:r>
            <a:endParaRPr lang="en-US" sz="1000" dirty="0"/>
          </a:p>
        </p:txBody>
      </p:sp>
      <p:pic>
        <p:nvPicPr>
          <p:cNvPr id="13" name="Image 1" descr="/tmp/claude-0/-home-user-data-manipulation-exercises/f19acac8-ccb4-5197-8e49-c3b6029ad477/scratchpad/report-images/final/ig-sport-fandom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4389120"/>
            <a:ext cx="8229600" cy="5897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7C5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20116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118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212080" y="93497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300" dirty="0"/>
          </a:p>
        </p:txBody>
      </p:sp>
      <p:pic>
        <p:nvPicPr>
          <p:cNvPr id="6" name="Image 0" descr="/home/user/data-manipulation-exercises/.claude/skills/brand-guidelines/assets/textures/globe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9235440"/>
            <a:ext cx="502920" cy="5029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11480" y="365760"/>
            <a:ext cx="7406640" cy="8293608"/>
          </a:xfrm>
          <a:prstGeom prst="roundRect">
            <a:avLst>
              <a:gd name="adj" fmla="val 308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64008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FF7C5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EXPERIÊNCIAS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143000"/>
            <a:ext cx="7132320" cy="566928"/>
          </a:xfrm>
          <a:prstGeom prst="ellipse">
            <a:avLst/>
          </a:prstGeom>
          <a:ln w="19050">
            <a:solidFill>
              <a:srgbClr val="FF7C5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1143000"/>
            <a:ext cx="7132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7C51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TRANSFORMADORAS</a:t>
            </a:r>
            <a:endParaRPr lang="en-US" sz="1700" dirty="0"/>
          </a:p>
        </p:txBody>
      </p:sp>
      <p:pic>
        <p:nvPicPr>
          <p:cNvPr id="11" name="Image 1" descr="/tmp/claude-0/-home-user-data-manipulation-exercises/f19acac8-ccb4-5197-8e49-c3b6029ad477/scratchpad/report-images/final/ig-experiencias-transformadora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31520" y="1938528"/>
            <a:ext cx="6766560" cy="5029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" y="7242048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7C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Marcas não vendem mais momentos. Vendem transformação.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731520" y="7927848"/>
            <a:ext cx="6766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7C5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88% das pessoas buscam hoje vivências com propósito.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87452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297180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06908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16636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63640" y="777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7452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7180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06908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6636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63640" y="1874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7452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97180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690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6636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636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72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7452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06908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16636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069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72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7452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97180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06908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16636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636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72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87452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297180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06908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16636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263640" y="6263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772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87452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97180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06908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16636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263640" y="7360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7452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7180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06908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16636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63640" y="8458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000" dirty="0"/>
          </a:p>
        </p:txBody>
      </p:sp>
      <p:pic>
        <p:nvPicPr>
          <p:cNvPr id="50" name="Image 0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51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6952" y="320040"/>
            <a:ext cx="292608" cy="292608"/>
          </a:xfrm>
          <a:prstGeom prst="rect">
            <a:avLst/>
          </a:prstGeom>
        </p:spPr>
      </p:pic>
      <p:pic>
        <p:nvPicPr>
          <p:cNvPr id="52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320040" y="9674352"/>
            <a:ext cx="292608" cy="292608"/>
          </a:xfrm>
          <a:prstGeom prst="rect">
            <a:avLst/>
          </a:prstGeom>
        </p:spPr>
      </p:pic>
      <p:pic>
        <p:nvPicPr>
          <p:cNvPr id="53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7616952" y="9674352"/>
            <a:ext cx="292608" cy="29260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31520" y="3474720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Esse é só um recorte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do nosso .report mensal.</a:t>
            </a:r>
            <a:endParaRPr lang="en-US" sz="3000" dirty="0"/>
          </a:p>
        </p:txBody>
      </p:sp>
      <p:sp>
        <p:nvSpPr>
          <p:cNvPr id="55" name="Text 49"/>
          <p:cNvSpPr/>
          <p:nvPr/>
        </p:nvSpPr>
        <p:spPr>
          <a:xfrm>
            <a:off x="731520" y="5486400"/>
            <a:ext cx="6766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 receber a análise completa de tendências,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novidades de plataformas e comportamento do consumidor,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mês?</a:t>
            </a:r>
            <a:endParaRPr lang="en-US" sz="1500" dirty="0"/>
          </a:p>
        </p:txBody>
      </p:sp>
      <p:sp>
        <p:nvSpPr>
          <p:cNvPr id="56" name="Text 50"/>
          <p:cNvSpPr/>
          <p:nvPr/>
        </p:nvSpPr>
        <p:spPr>
          <a:xfrm>
            <a:off x="731520" y="7315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Fala com a gente → @arpejo</a:t>
            </a:r>
            <a:endParaRPr lang="en-US" sz="1600" dirty="0"/>
          </a:p>
        </p:txBody>
      </p:sp>
      <p:pic>
        <p:nvPicPr>
          <p:cNvPr id="57" name="Image 4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8915400"/>
            <a:ext cx="2377440" cy="7126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2026-08-11T12:11:23Z</dcterms:created>
  <dcterms:modified xsi:type="dcterms:W3CDTF">2026-08-11T12:11:23Z</dcterms:modified>
</cp:coreProperties>
</file>