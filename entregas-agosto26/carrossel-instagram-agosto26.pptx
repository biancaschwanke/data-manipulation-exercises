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ContentType="application/x-fontdata" Extension="f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8229600" cy="10287000"/>
  <p:notesSz cx="10287000" cy="8229600"/>
  <p:embeddedFontLst>
    <p:embeddedFont>
      <p:font typeface="JetBrains Mono Medium"/>
      <p:regular r:id="rId14"/>
      <p:bold r:id="rId15"/>
      <p:italic r:id="rId16"/>
      <p:boldItalic r:id="rId17"/>
    </p:embeddedFont>
    <p:embeddedFont>
      <p:font typeface="Urbanist"/>
      <p:regular r:id="rId18"/>
      <p:bold r:id="rId19"/>
      <p:italic r:id="rId20"/>
      <p:boldItalic r:id="rId21"/>
    </p:embeddedFont>
    <p:embeddedFont>
      <p:font typeface="Libre Baskerville"/>
      <p:regular r:id="rId22"/>
      <p:bold r:id="rId23"/>
      <p:italic r:id="rId24"/>
      <p:boldItalic r:id="rId25"/>
    </p:embeddedFont>
    <p:embeddedFont>
      <p:font typeface="Ubuntu Mono"/>
      <p:regular r:id="rId26"/>
      <p:bold r:id="rId27"/>
      <p:italic r:id="rId28"/>
      <p:boldItalic r:id="rId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JetBrainsMonoMedium-regular.fntdata"/><Relationship Id="rId15" Type="http://schemas.openxmlformats.org/officeDocument/2006/relationships/font" Target="fonts/JetBrainsMonoMedium-bold.fntdata"/><Relationship Id="rId16" Type="http://schemas.openxmlformats.org/officeDocument/2006/relationships/font" Target="fonts/JetBrainsMonoMedium-italic.fntdata"/><Relationship Id="rId17" Type="http://schemas.openxmlformats.org/officeDocument/2006/relationships/font" Target="fonts/JetBrainsMonoMedium-boldItalic.fntdata"/><Relationship Id="rId18" Type="http://schemas.openxmlformats.org/officeDocument/2006/relationships/font" Target="fonts/Urbanist-regular.fntdata"/><Relationship Id="rId19" Type="http://schemas.openxmlformats.org/officeDocument/2006/relationships/font" Target="fonts/Urbanist-bold.fntdata"/><Relationship Id="rId20" Type="http://schemas.openxmlformats.org/officeDocument/2006/relationships/font" Target="fonts/Urbanist-italic.fntdata"/><Relationship Id="rId21" Type="http://schemas.openxmlformats.org/officeDocument/2006/relationships/font" Target="fonts/Urbanist-boldItalic.fntdata"/><Relationship Id="rId22" Type="http://schemas.openxmlformats.org/officeDocument/2006/relationships/font" Target="fonts/LibreBaskerville-regular.fntdata"/><Relationship Id="rId23" Type="http://schemas.openxmlformats.org/officeDocument/2006/relationships/font" Target="fonts/LibreBaskerville-bold.fntdata"/><Relationship Id="rId24" Type="http://schemas.openxmlformats.org/officeDocument/2006/relationships/font" Target="fonts/LibreBaskerville-italic.fntdata"/><Relationship Id="rId25" Type="http://schemas.openxmlformats.org/officeDocument/2006/relationships/font" Target="fonts/LibreBaskerville-boldItalic.fntdata"/><Relationship Id="rId26" Type="http://schemas.openxmlformats.org/officeDocument/2006/relationships/font" Target="fonts/UbuntuMono-regular.fntdata"/><Relationship Id="rId27" Type="http://schemas.openxmlformats.org/officeDocument/2006/relationships/font" Target="fonts/UbuntuMono-bold.fntdata"/><Relationship Id="rId28" Type="http://schemas.openxmlformats.org/officeDocument/2006/relationships/font" Target="fonts/UbuntuMono-italic.fntdata"/><Relationship Id="rId29" Type="http://schemas.openxmlformats.org/officeDocument/2006/relationships/font" Target="fonts/UbuntuMono-boldItalic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74520" y="777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71800" y="777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069080" y="777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66360" y="777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63640" y="777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718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690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636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7180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6908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6636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7452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7180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6908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6636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7452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7180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6908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6263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74520" y="6263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71800" y="6263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69080" y="6263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6263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6263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" y="7360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874520" y="7360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71800" y="7360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69080" y="7360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66360" y="7360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7360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" y="8458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874520" y="8458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71800" y="8458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069080" y="8458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66360" y="8458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63640" y="8458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pic>
        <p:nvPicPr>
          <p:cNvPr id="50" name="Image 0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320040" y="320040"/>
            <a:ext cx="292608" cy="292608"/>
          </a:xfrm>
          <a:prstGeom prst="rect">
            <a:avLst/>
          </a:prstGeom>
        </p:spPr>
      </p:pic>
      <p:pic>
        <p:nvPicPr>
          <p:cNvPr id="51" name="Image 1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320040"/>
            <a:ext cx="292608" cy="292608"/>
          </a:xfrm>
          <a:prstGeom prst="rect">
            <a:avLst/>
          </a:prstGeom>
        </p:spPr>
      </p:pic>
      <p:pic>
        <p:nvPicPr>
          <p:cNvPr id="52" name="Image 2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20040" y="9674352"/>
            <a:ext cx="292608" cy="292608"/>
          </a:xfrm>
          <a:prstGeom prst="rect">
            <a:avLst/>
          </a:prstGeom>
        </p:spPr>
      </p:pic>
      <p:pic>
        <p:nvPicPr>
          <p:cNvPr id="53" name="Image 3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616952" y="9674352"/>
            <a:ext cx="292608" cy="292608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731520" y="329184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CONSUMER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TRENDS</a:t>
            </a:r>
            <a:endParaRPr lang="en-US" sz="4400" dirty="0"/>
          </a:p>
        </p:txBody>
      </p:sp>
      <p:sp>
        <p:nvSpPr>
          <p:cNvPr id="55" name="Text 49"/>
          <p:cNvSpPr/>
          <p:nvPr/>
        </p:nvSpPr>
        <p:spPr>
          <a:xfrm>
            <a:off x="731520" y="5577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edição</a:t>
            </a:r>
            <a:endParaRPr lang="en-US" sz="1600" dirty="0"/>
          </a:p>
        </p:txBody>
      </p:sp>
      <p:sp>
        <p:nvSpPr>
          <p:cNvPr id="56" name="Text 50"/>
          <p:cNvSpPr/>
          <p:nvPr/>
        </p:nvSpPr>
        <p:spPr>
          <a:xfrm>
            <a:off x="731520" y="5943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AGOSTO_26</a:t>
            </a:r>
            <a:endParaRPr lang="en-US" sz="3000" dirty="0"/>
          </a:p>
        </p:txBody>
      </p:sp>
      <p:pic>
        <p:nvPicPr>
          <p:cNvPr id="57" name="Image 4" descr="/home/user/data-manipulation-exercises/.claude/skills/arpejo-report-desdobramento/assets/arpejo-report-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8915400"/>
            <a:ext cx="2377440" cy="7126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ata-manipulation-exercises/f19acac8-ccb4-5197-8e49-c3b6029ad477/scratchpad/report-images/final/ig-hiper-realidad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937760"/>
            <a:ext cx="8229600" cy="5349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20040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arpejo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03504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agosto_26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651760" y="685800"/>
            <a:ext cx="2926080" cy="59436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651760" y="685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TRENDS</a:t>
            </a:r>
            <a:endParaRPr lang="en-US" sz="1500" dirty="0"/>
          </a:p>
        </p:txBody>
      </p:sp>
      <p:pic>
        <p:nvPicPr>
          <p:cNvPr id="8" name="Image 1" descr="/home/user/data-manipulation-exercises/.claude/skills/brand-guidelines/assets/textures/globe-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098" y="858164"/>
            <a:ext cx="249631" cy="2496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13716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HIPER-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REALIDADE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40080" y="26060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ou offline? Pra Geração Z, já não faz diferença.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356616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40% dos jovens dizem que “é tudo real”, sem diferenciar o virtual do físico.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4008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/ 5</a:t>
            </a:r>
            <a:endParaRPr lang="en-US" sz="1000" dirty="0"/>
          </a:p>
        </p:txBody>
      </p:sp>
      <p:pic>
        <p:nvPicPr>
          <p:cNvPr id="13" name="Image 2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223760" y="42793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7C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report↗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20040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arpejo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03504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agosto_26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651760" y="1188720"/>
            <a:ext cx="2926080" cy="640080"/>
          </a:xfrm>
          <a:prstGeom prst="ellipse">
            <a:avLst/>
          </a:prstGeom>
          <a:ln w="190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1188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NEWS</a:t>
            </a:r>
            <a:endParaRPr lang="en-US" sz="1600" dirty="0"/>
          </a:p>
        </p:txBody>
      </p:sp>
      <p:pic>
        <p:nvPicPr>
          <p:cNvPr id="7" name="Image 0" descr="/home/user/data-manipulation-exercises/.claude/skills/brand-guidelines/assets/textures/globe-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9656" y="1374343"/>
            <a:ext cx="268834" cy="2688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19456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i="1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AGENTIC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i="1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SEARCH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914400" y="493776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marca já apareceu numa resposta de IA hoje?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14400" y="65836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Buscas por IA para descobrir produtos cresceram 200% em 1 ano.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9646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/ 5</a:t>
            </a:r>
            <a:endParaRPr lang="en-US" sz="1100" dirty="0"/>
          </a:p>
        </p:txBody>
      </p:sp>
      <p:pic>
        <p:nvPicPr>
          <p:cNvPr id="12" name="Image 1" descr="/home/user/data-manipulation-exercises/.claude/skills/brand-guidelines/assets/textures/arrow-bl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223760" y="928116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AFF9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ata-manipulation-exercises/f19acac8-ccb4-5197-8e49-c3b6029ad477/scratchpad/report-images/final/ig-sem-ressac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937760"/>
            <a:ext cx="8229600" cy="5349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20040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arpejo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03504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agosto_26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651760" y="685800"/>
            <a:ext cx="2926080" cy="594360"/>
          </a:xfrm>
          <a:prstGeom prst="ellipse">
            <a:avLst/>
          </a:prstGeom>
          <a:ln w="19050">
            <a:solidFill>
              <a:srgbClr val="0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651760" y="685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TRENDS</a:t>
            </a:r>
            <a:endParaRPr lang="en-US" sz="1500" dirty="0"/>
          </a:p>
        </p:txBody>
      </p:sp>
      <p:pic>
        <p:nvPicPr>
          <p:cNvPr id="8" name="Image 1" descr="/home/user/data-manipulation-exercises/.claude/skills/brand-guidelines/assets/textures/globe-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098" y="858164"/>
            <a:ext cx="249631" cy="2496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13716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GERAÇÃO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i="1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SEM RESSACA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40080" y="26060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Beber menos virou parte da experiência — não o fim dela.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356616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64% dos brasileiros declararam não consumir álcool em 2025.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4008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/ 5</a:t>
            </a:r>
            <a:endParaRPr lang="en-US" sz="1000" dirty="0"/>
          </a:p>
        </p:txBody>
      </p:sp>
      <p:pic>
        <p:nvPicPr>
          <p:cNvPr id="13" name="Image 2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223760" y="42793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ata-manipulation-exercises/f19acac8-ccb4-5197-8e49-c3b6029ad477/scratchpad/report-images/final/ig-sport-fand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8229600" cy="5349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200400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arpejo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035040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agosto_26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651760" y="6035040"/>
            <a:ext cx="2926080" cy="59436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651760" y="60350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TRENDS</a:t>
            </a:r>
            <a:endParaRPr lang="en-US" sz="1500" dirty="0"/>
          </a:p>
        </p:txBody>
      </p:sp>
      <p:pic>
        <p:nvPicPr>
          <p:cNvPr id="8" name="Image 1" descr="/home/user/data-manipulation-exercises/.claude/skills/brand-guidelines/assets/textures/globe-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098" y="6207404"/>
            <a:ext cx="249631" cy="2496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67208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NEW-WAVE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SPORT FANDOM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40080" y="79552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esporte tem uma nova torcida: jovem, feminina e apaixonada por estilo.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891540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em cada 4 novos fãs de Fórmula 1 são mulheres.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40080" y="9692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/ 5</a:t>
            </a:r>
            <a:endParaRPr lang="en-US" sz="1000" dirty="0"/>
          </a:p>
        </p:txBody>
      </p:sp>
      <p:pic>
        <p:nvPicPr>
          <p:cNvPr id="13" name="Image 2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223760" y="962863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7C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data-manipulation-exercises/f19acac8-ccb4-5197-8e49-c3b6029ad477/scratchpad/report-images/final/ig-experiencias-transformadora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4937760"/>
            <a:ext cx="8229600" cy="5349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20040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arpejo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03504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agosto_26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651760" y="685800"/>
            <a:ext cx="2926080" cy="594360"/>
          </a:xfrm>
          <a:prstGeom prst="ellipse">
            <a:avLst/>
          </a:prstGeom>
          <a:ln w="19050">
            <a:solidFill>
              <a:srgbClr val="DAFF9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651760" y="6858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TRENDS</a:t>
            </a:r>
            <a:endParaRPr lang="en-US" sz="1500" dirty="0"/>
          </a:p>
        </p:txBody>
      </p:sp>
      <p:pic>
        <p:nvPicPr>
          <p:cNvPr id="8" name="Image 1" descr="/home/user/data-manipulation-exercises/.claude/skills/brand-guidelines/assets/textures/globe-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3098" y="858164"/>
            <a:ext cx="249631" cy="24963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137160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EXPERIÊNCIAS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i="1" dirty="0">
                <a:solidFill>
                  <a:srgbClr val="DAFF94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TRANSFORMADORAS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40080" y="26060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Marcas não vendem mais momentos. Vendem transformação.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40080" y="356616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88% das pessoas buscam hoje vivências com propósito.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40080" y="4343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AF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/ 5</a:t>
            </a:r>
            <a:endParaRPr lang="en-US" sz="1000" dirty="0"/>
          </a:p>
        </p:txBody>
      </p:sp>
      <p:pic>
        <p:nvPicPr>
          <p:cNvPr id="13" name="Image 2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223760" y="42793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74520" y="777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971800" y="777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069080" y="777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66360" y="777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63640" y="777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7180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690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663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636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7180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6908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6636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7452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97180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6908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6636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7452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97180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06908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6263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74520" y="6263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971800" y="6263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69080" y="6263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66360" y="6263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6263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" y="7360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874520" y="7360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971800" y="7360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069080" y="7360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66360" y="7360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63640" y="7360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" y="8458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874520" y="8458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971800" y="8458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069080" y="8458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166360" y="8458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63640" y="8458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00" dirty="0"/>
          </a:p>
        </p:txBody>
      </p:sp>
      <p:pic>
        <p:nvPicPr>
          <p:cNvPr id="50" name="Image 0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320040" y="320040"/>
            <a:ext cx="292608" cy="292608"/>
          </a:xfrm>
          <a:prstGeom prst="rect">
            <a:avLst/>
          </a:prstGeom>
        </p:spPr>
      </p:pic>
      <p:pic>
        <p:nvPicPr>
          <p:cNvPr id="51" name="Image 1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320040"/>
            <a:ext cx="292608" cy="292608"/>
          </a:xfrm>
          <a:prstGeom prst="rect">
            <a:avLst/>
          </a:prstGeom>
        </p:spPr>
      </p:pic>
      <p:pic>
        <p:nvPicPr>
          <p:cNvPr id="52" name="Image 2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320040" y="9674352"/>
            <a:ext cx="292608" cy="292608"/>
          </a:xfrm>
          <a:prstGeom prst="rect">
            <a:avLst/>
          </a:prstGeom>
        </p:spPr>
      </p:pic>
      <p:pic>
        <p:nvPicPr>
          <p:cNvPr id="53" name="Image 3" descr="/home/user/data-manipulation-exercises/.claude/skills/brand-guidelines/assets/textures/arrow-li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7616952" y="9674352"/>
            <a:ext cx="292608" cy="292608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731520" y="3474720"/>
            <a:ext cx="6766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Esse é só um recorte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do nosso .report mensal.</a:t>
            </a:r>
            <a:endParaRPr lang="en-US" sz="3000" dirty="0"/>
          </a:p>
        </p:txBody>
      </p:sp>
      <p:sp>
        <p:nvSpPr>
          <p:cNvPr id="55" name="Text 49"/>
          <p:cNvSpPr/>
          <p:nvPr/>
        </p:nvSpPr>
        <p:spPr>
          <a:xfrm>
            <a:off x="731520" y="548640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 receber a análise completa de tendências,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novidades de plataformas e comportamento do consumidor,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DAF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mês?</a:t>
            </a:r>
            <a:endParaRPr lang="en-US" sz="1500" dirty="0"/>
          </a:p>
        </p:txBody>
      </p:sp>
      <p:sp>
        <p:nvSpPr>
          <p:cNvPr id="56" name="Text 50"/>
          <p:cNvSpPr/>
          <p:nvPr/>
        </p:nvSpPr>
        <p:spPr>
          <a:xfrm>
            <a:off x="731520" y="7315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Fala com a gente → @arpejo</a:t>
            </a:r>
            <a:endParaRPr lang="en-US" sz="1600" dirty="0"/>
          </a:p>
        </p:txBody>
      </p:sp>
      <p:pic>
        <p:nvPicPr>
          <p:cNvPr id="57" name="Image 4" descr="/home/user/data-manipulation-exercises/.claude/skills/arpejo-report-desdobramento/assets/arpejo-report-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8915400"/>
            <a:ext cx="2377440" cy="7126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2026-08-10T20:28:16Z</dcterms:created>
  <dcterms:modified xsi:type="dcterms:W3CDTF">2026-08-10T20:28:16Z</dcterms:modified>
</cp:coreProperties>
</file>