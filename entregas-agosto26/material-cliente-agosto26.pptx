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ContentType="application/x-fontdata" Extension="f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JetBrains Mono Medium"/>
      <p:regular r:id="rId17"/>
      <p:bold r:id="rId18"/>
      <p:italic r:id="rId19"/>
      <p:boldItalic r:id="rId20"/>
    </p:embeddedFont>
    <p:embeddedFont>
      <p:font typeface="Urbanist"/>
      <p:regular r:id="rId21"/>
      <p:bold r:id="rId22"/>
      <p:italic r:id="rId23"/>
      <p:boldItalic r:id="rId24"/>
    </p:embeddedFont>
    <p:embeddedFont>
      <p:font typeface="Libre Baskerville"/>
      <p:regular r:id="rId25"/>
      <p:bold r:id="rId26"/>
      <p:italic r:id="rId27"/>
      <p:boldItalic r:id="rId28"/>
    </p:embeddedFont>
    <p:embeddedFont>
      <p:font typeface="Ubuntu Mono"/>
      <p:regular r:id="rId29"/>
      <p:bold r:id="rId30"/>
      <p:italic r:id="rId31"/>
      <p:boldItalic r:id="rId3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JetBrainsMonoMedium-regular.fntdata"/><Relationship Id="rId18" Type="http://schemas.openxmlformats.org/officeDocument/2006/relationships/font" Target="fonts/JetBrainsMonoMedium-bold.fntdata"/><Relationship Id="rId19" Type="http://schemas.openxmlformats.org/officeDocument/2006/relationships/font" Target="fonts/JetBrainsMonoMedium-italic.fntdata"/><Relationship Id="rId20" Type="http://schemas.openxmlformats.org/officeDocument/2006/relationships/font" Target="fonts/JetBrainsMonoMedium-boldItalic.fntdata"/><Relationship Id="rId21" Type="http://schemas.openxmlformats.org/officeDocument/2006/relationships/font" Target="fonts/Urbanist-regular.fntdata"/><Relationship Id="rId22" Type="http://schemas.openxmlformats.org/officeDocument/2006/relationships/font" Target="fonts/Urbanist-bold.fntdata"/><Relationship Id="rId23" Type="http://schemas.openxmlformats.org/officeDocument/2006/relationships/font" Target="fonts/Urbanist-italic.fntdata"/><Relationship Id="rId24" Type="http://schemas.openxmlformats.org/officeDocument/2006/relationships/font" Target="fonts/Urbanist-boldItalic.fntdata"/><Relationship Id="rId25" Type="http://schemas.openxmlformats.org/officeDocument/2006/relationships/font" Target="fonts/LibreBaskerville-regular.fntdata"/><Relationship Id="rId26" Type="http://schemas.openxmlformats.org/officeDocument/2006/relationships/font" Target="fonts/LibreBaskerville-bold.fntdata"/><Relationship Id="rId27" Type="http://schemas.openxmlformats.org/officeDocument/2006/relationships/font" Target="fonts/LibreBaskerville-italic.fntdata"/><Relationship Id="rId28" Type="http://schemas.openxmlformats.org/officeDocument/2006/relationships/font" Target="fonts/LibreBaskerville-boldItalic.fntdata"/><Relationship Id="rId29" Type="http://schemas.openxmlformats.org/officeDocument/2006/relationships/font" Target="fonts/UbuntuMono-regular.fntdata"/><Relationship Id="rId30" Type="http://schemas.openxmlformats.org/officeDocument/2006/relationships/font" Target="fonts/UbuntuMono-bold.fntdata"/><Relationship Id="rId31" Type="http://schemas.openxmlformats.org/officeDocument/2006/relationships/font" Target="fonts/UbuntuMono-italic.fntdata"/><Relationship Id="rId32" Type="http://schemas.openxmlformats.org/officeDocument/2006/relationships/font" Target="fonts/UbuntuMono-boldItalic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2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F-eyFpkQ5I" TargetMode="External"/><Relationship Id="rId5" Type="http://schemas.openxmlformats.org/officeDocument/2006/relationships/hyperlink" Target="https://www.youtube.com/watch?v=Qu7DKe6zZfE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4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9047" y="320040"/>
            <a:ext cx="292608" cy="292608"/>
          </a:xfrm>
          <a:prstGeom prst="rect">
            <a:avLst/>
          </a:prstGeom>
        </p:spPr>
      </p:pic>
      <p:pic>
        <p:nvPicPr>
          <p:cNvPr id="5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320040" y="6245352"/>
            <a:ext cx="292608" cy="292608"/>
          </a:xfrm>
          <a:prstGeom prst="rect">
            <a:avLst/>
          </a:prstGeom>
        </p:spPr>
      </p:pic>
      <p:pic>
        <p:nvPicPr>
          <p:cNvPr id="6" name="Image 4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1579047" y="6245352"/>
            <a:ext cx="292608" cy="292608"/>
          </a:xfrm>
          <a:prstGeom prst="rect">
            <a:avLst/>
          </a:prstGeom>
        </p:spPr>
      </p:pic>
      <p:pic>
        <p:nvPicPr>
          <p:cNvPr id="7" name="Image 5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48" y="2286000"/>
            <a:ext cx="3657600" cy="1096403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2438248" y="3840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resumo do mês, feito pra você</a:t>
            </a:r>
            <a:endParaRPr lang="en-US" sz="2000" dirty="0"/>
          </a:p>
        </p:txBody>
      </p:sp>
      <p:sp>
        <p:nvSpPr>
          <p:cNvPr id="9" name="Text 1"/>
          <p:cNvSpPr/>
          <p:nvPr/>
        </p:nvSpPr>
        <p:spPr>
          <a:xfrm>
            <a:off x="4267048" y="4480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3393338" cy="4023360"/>
          </a:xfrm>
          <a:prstGeom prst="roundRect">
            <a:avLst>
              <a:gd name="adj" fmla="val 3234"/>
            </a:avLst>
          </a:prstGeom>
          <a:solidFill>
            <a:srgbClr val="000000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2148840"/>
            <a:ext cx="2936138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148840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Reddit</a:t>
            </a:r>
            <a:endParaRPr lang="en-US" sz="1400" dirty="0"/>
          </a:p>
        </p:txBody>
      </p:sp>
      <p:pic>
        <p:nvPicPr>
          <p:cNvPr id="9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6635" y="2334463"/>
            <a:ext cx="268834" cy="26883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2971800"/>
            <a:ext cx="28446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Ultrapassou meio bilhão de usuários semanais; receita publicitária cresceu 64% no 2º tri de 2026.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99178" y="1920240"/>
            <a:ext cx="3393338" cy="4023360"/>
          </a:xfrm>
          <a:prstGeom prst="roundRect">
            <a:avLst>
              <a:gd name="adj" fmla="val 3234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627778" y="2148840"/>
            <a:ext cx="2936138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27778" y="2148840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IA</a:t>
            </a:r>
            <a:endParaRPr lang="en-US" sz="1400" dirty="0"/>
          </a:p>
        </p:txBody>
      </p:sp>
      <p:pic>
        <p:nvPicPr>
          <p:cNvPr id="14" name="Image 1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733" y="2334463"/>
            <a:ext cx="268834" cy="26883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73498" y="2971800"/>
            <a:ext cx="28446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Buscas por IA (Agentic Search) para descobrir produtos cresceram 200% em 1 ano.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58277" y="1920240"/>
            <a:ext cx="3393338" cy="4023360"/>
          </a:xfrm>
          <a:prstGeom prst="roundRect">
            <a:avLst>
              <a:gd name="adj" fmla="val 3234"/>
            </a:avLst>
          </a:prstGeom>
          <a:solidFill>
            <a:srgbClr val="000000"/>
          </a:solidFill>
          <a:ln/>
        </p:spPr>
      </p:sp>
      <p:sp>
        <p:nvSpPr>
          <p:cNvPr id="17" name="Shape 13"/>
          <p:cNvSpPr/>
          <p:nvPr/>
        </p:nvSpPr>
        <p:spPr>
          <a:xfrm>
            <a:off x="8386877" y="2148840"/>
            <a:ext cx="2936138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386877" y="2148840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WhatsApp</a:t>
            </a:r>
            <a:endParaRPr lang="en-US" sz="1400" dirty="0"/>
          </a:p>
        </p:txBody>
      </p:sp>
      <p:pic>
        <p:nvPicPr>
          <p:cNvPr id="19" name="Image 2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4832" y="2334463"/>
            <a:ext cx="268834" cy="26883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32597" y="2971800"/>
            <a:ext cx="28446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dos brasileiros já compraram produtos direto pelo app; 77% usam para falar com empresas.</a:t>
            </a:r>
            <a:endParaRPr lang="en-US" sz="1200" dirty="0"/>
          </a:p>
        </p:txBody>
      </p:sp>
      <p:pic>
        <p:nvPicPr>
          <p:cNvPr id="21" name="Image 3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1277295" y="5943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TRENDS</a:t>
            </a:r>
            <a:endParaRPr lang="en-US" sz="1300" dirty="0"/>
          </a:p>
        </p:txBody>
      </p:sp>
      <p:pic>
        <p:nvPicPr>
          <p:cNvPr id="3" name="Image 0" descr="/tmp/claude-0/-home-user-data-manipulation-exercises/f19acac8-ccb4-5197-8e49-c3b6029ad477/scratchpad/report-images/final/trend-hiper-realid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364328" cy="51206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HIPER-REALIDADE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Online ou offline, o que conta é a experiência.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22960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dos jovens da Geração Z afirmam que “é tudo real”, sem diferenciar experiências virtuais das físicas.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importa é a experiência que a marca proporciona, real ou gerada por IA.</a:t>
            </a:r>
            <a:endParaRPr lang="en-US" sz="1000" dirty="0"/>
          </a:p>
        </p:txBody>
      </p:sp>
      <p:pic>
        <p:nvPicPr>
          <p:cNvPr id="11" name="Image 1" descr="/tmp/claude-0/-home-user-data-manipulation-exercises/f19acac8-ccb4-5197-8e49-c3b6029ad477/scratchpad/report-images/final/trend-experiencias-transformadora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78728" y="1188720"/>
            <a:ext cx="5364328" cy="51206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78728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78728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6553048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EXPERIÊNCIAS TRANSFORMADORAS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53048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Catalisadoras de transformação pessoal.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553048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 das pessoas querem vivências significativas; 87% dizem que as melhores experiências são as que as transformam de alguma forma.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553048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553048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mais a marca contribuir para a evolução pessoal do cliente, maior a fidelização.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TRENDS</a:t>
            </a:r>
            <a:endParaRPr lang="en-US" sz="1300" dirty="0"/>
          </a:p>
        </p:txBody>
      </p:sp>
      <p:pic>
        <p:nvPicPr>
          <p:cNvPr id="3" name="Image 0" descr="/tmp/claude-0/-home-user-data-manipulation-exercises/f19acac8-ccb4-5197-8e49-c3b6029ad477/scratchpad/report-images/final/trend-sport-fand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364328" cy="51206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NEW-WAVE SPORT FANDOM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Uma nova geração de fãs redesenha o esporte.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22960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em cada 4 novos fãs de Fórmula 1 são mulheres; o esporte vira território de moda, beleza e lifestyle.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esporte deixou de ser só competição — virou cultura, entretenimento e estilo de vida.</a:t>
            </a:r>
            <a:endParaRPr lang="en-US" sz="1000" dirty="0"/>
          </a:p>
        </p:txBody>
      </p:sp>
      <p:pic>
        <p:nvPicPr>
          <p:cNvPr id="11" name="Image 1" descr="/tmp/claude-0/-home-user-data-manipulation-exercises/f19acac8-ccb4-5197-8e49-c3b6029ad477/scratchpad/report-images/final/trend-sem-ressac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78728" y="1188720"/>
            <a:ext cx="5364328" cy="51206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78728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78728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6553048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GERAÇÃO SEM RESSACA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53048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Menos álcool, mais intenção no consumo.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553048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64% dos brasileiros declararam não consumir álcool em 2025, contra 55% em 2023.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553048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553048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 de tirar o álcool do centro da experiência sem tirar a experiência do centro.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@ARPEJO — O QUE FIZEMOS ESSE MÊS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5364328" cy="731520"/>
          </a:xfrm>
          <a:prstGeom prst="ellipse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1280160"/>
            <a:ext cx="5364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PagueVeloz — Dia dos Pais</a:t>
            </a:r>
            <a:endParaRPr lang="en-US" sz="1500" dirty="0"/>
          </a:p>
        </p:txBody>
      </p:sp>
      <p:pic>
        <p:nvPicPr>
          <p:cNvPr id="6" name="Image 1" descr="/home/user/data-manipulation-exercises/.claude/skills/brand-guidelines/assets/textures/glob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901" y="1492301"/>
            <a:ext cx="307238" cy="30723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2286000"/>
            <a:ext cx="53643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nome por trás do meu nome”: fachadas de comércio em São Paulo e Campinas viram homenagens aos pais que apoiaram o sonho de três empreendedores. Desdobra em pílulas de conteúdo dinâmico nas redes.</a:t>
            </a:r>
            <a:endParaRPr lang="en-US" sz="1250" dirty="0"/>
          </a:p>
        </p:txBody>
      </p:sp>
      <p:sp>
        <p:nvSpPr>
          <p:cNvPr id="8" name="Text 4">
            <a:hlinkClick r:id="rId3" tooltip=""/>
          </p:cNvPr>
          <p:cNvSpPr/>
          <p:nvPr/>
        </p:nvSpPr>
        <p:spPr>
          <a:xfrm>
            <a:off x="548640" y="457200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assistir ao case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278728" y="1280160"/>
            <a:ext cx="5364328" cy="73152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278728" y="1280160"/>
            <a:ext cx="5364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Grupo Equatorial — Dia dos Pais</a:t>
            </a:r>
            <a:endParaRPr lang="en-US" sz="1500" dirty="0"/>
          </a:p>
        </p:txBody>
      </p:sp>
      <p:pic>
        <p:nvPicPr>
          <p:cNvPr id="11" name="Image 2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7988" y="1492301"/>
            <a:ext cx="307238" cy="30723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278728" y="2286000"/>
            <a:ext cx="53643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Espelhos apagados em locais de grande circulação: um entrevistador pergunta em que a pessoa se parece com o pai — não fisicamente. Ao terminar de contar, uma palavra se acende no reflexo.</a:t>
            </a:r>
            <a:endParaRPr lang="en-US" sz="1250" dirty="0"/>
          </a:p>
        </p:txBody>
      </p:sp>
      <p:sp>
        <p:nvSpPr>
          <p:cNvPr id="13" name="Text 8">
            <a:hlinkClick r:id="rId5" tooltip=""/>
          </p:cNvPr>
          <p:cNvSpPr/>
          <p:nvPr/>
        </p:nvSpPr>
        <p:spPr>
          <a:xfrm>
            <a:off x="6278728" y="457200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assistir ao case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INSIGHTS — inspirações do mês (exclusivo clientes)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Itaú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8758" y="1713586"/>
            <a:ext cx="230429" cy="2304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Campanha “IA.i”: nova IA do banco, estética artesanal em película, trocadilho entre “IA.I” e “e aí?” para aproximar a tecnologia das pessoas.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68698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51578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51578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Coca-Cola</a:t>
            </a:r>
            <a:endParaRPr lang="en-US" sz="1300" dirty="0"/>
          </a:p>
        </p:txBody>
      </p:sp>
      <p:pic>
        <p:nvPicPr>
          <p:cNvPr id="11" name="Image 1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8817" y="1713586"/>
            <a:ext cx="230429" cy="23042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7298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Mundo Pode Esperar” (Dia dos Pais): convida a família a se desconectar das telas, com filmes, influenciadores e participação numa novela da Globo.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188757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71637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371637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Reserva</a:t>
            </a:r>
            <a:endParaRPr lang="en-US" sz="1300" dirty="0"/>
          </a:p>
        </p:txBody>
      </p:sp>
      <p:pic>
        <p:nvPicPr>
          <p:cNvPr id="16" name="Image 2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875" y="1713586"/>
            <a:ext cx="230429" cy="23042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17357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“Quem cuida, ama” (Dia dos Pais): parceria com Safety 1st, linha de roupas “Tal Pai, Tal Filho”, protagonizada por Rodrigo Santoro.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INSIGHTS (continuação)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Burger King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8758" y="1713586"/>
            <a:ext cx="230429" cy="2304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“Baby Burgers”: simulou um teste de gravidez positivo nas redes para revelar o lançamento de versões menores do Whopper.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68698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51578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51578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Chevrolet + iFood</a:t>
            </a:r>
            <a:endParaRPr lang="en-US" sz="1300" dirty="0"/>
          </a:p>
        </p:txBody>
      </p:sp>
      <p:pic>
        <p:nvPicPr>
          <p:cNvPr id="11" name="Image 1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8817" y="1713586"/>
            <a:ext cx="230429" cy="23042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7298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Aproveitou a promessa do iFood de entregar tudo durante a Copa para lançar o Novo Sonic dentro do próprio app de delivery.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188757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71637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371637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Burger King</a:t>
            </a:r>
            <a:endParaRPr lang="en-US" sz="1300" dirty="0"/>
          </a:p>
        </p:txBody>
      </p:sp>
      <p:pic>
        <p:nvPicPr>
          <p:cNvPr id="16" name="Image 2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875" y="1713586"/>
            <a:ext cx="230429" cy="23042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17357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“King Cheese”: brinca com o ditado “mineiro come quieto”, com desconto ativado por frase-senha no drive-thru.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INDICAÇÕES ARPEJERS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Leituras recomendadas pelo time este mês: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_ Slow-living como status de luxo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_ “O perigo de estar lúcida” — Rosa Monteiro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097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FONTES →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029200" y="1280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Remio — Reddit supera previsões de receita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0" y="18288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Opinion Box — Pesquisa WhatsApp no Brasil 2026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2377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Sales Force — Shopping's New First Step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02920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LinkedIn — How to Maximize AI Visibility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0" y="3474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Estadão — Menos álcool nas mesas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048" y="2697480"/>
            <a:ext cx="3657600" cy="109640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352648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até o mês que vem.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2026-08-10T18:25:29Z</dcterms:created>
  <dcterms:modified xsi:type="dcterms:W3CDTF">2026-08-10T18:25:29Z</dcterms:modified>
</cp:coreProperties>
</file>