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94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828800" y="594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880360" y="594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931920" y="594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983480" y="594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035040" y="594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086600" y="594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138160" y="594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89720" y="594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241280" y="594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1600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28800" y="1600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80360" y="1600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931920" y="1600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83480" y="1600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35040" y="1600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086600" y="1600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138160" y="1600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189720" y="1600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241280" y="1600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28800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880360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931920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83480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35040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086600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138160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189720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241280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77240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828800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880360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931920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983480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035040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086600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138160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189720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241280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77240" y="4617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828800" y="4617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880360" y="4617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931920" y="4617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983480" y="4617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035040" y="4617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086600" y="4617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138160" y="4617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9189720" y="4617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0241280" y="4617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77240" y="5623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828800" y="5623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880360" y="5623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931920" y="5623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983480" y="5623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035040" y="5623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086600" y="5623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138160" y="5623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9189720" y="5623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10241280" y="5623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365760" y="365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AF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↖</a:t>
            </a:r>
            <a:endParaRPr lang="en-US" sz="2200" dirty="0"/>
          </a:p>
        </p:txBody>
      </p:sp>
      <p:sp>
        <p:nvSpPr>
          <p:cNvPr id="63" name="Text 61"/>
          <p:cNvSpPr/>
          <p:nvPr/>
        </p:nvSpPr>
        <p:spPr>
          <a:xfrm>
            <a:off x="11460175" y="365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AF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↗</a:t>
            </a:r>
            <a:endParaRPr lang="en-US" sz="2200" dirty="0"/>
          </a:p>
        </p:txBody>
      </p:sp>
      <p:sp>
        <p:nvSpPr>
          <p:cNvPr id="64" name="Text 62"/>
          <p:cNvSpPr/>
          <p:nvPr/>
        </p:nvSpPr>
        <p:spPr>
          <a:xfrm>
            <a:off x="365760" y="6126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AF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↙</a:t>
            </a:r>
            <a:endParaRPr lang="en-US" sz="2200" dirty="0"/>
          </a:p>
        </p:txBody>
      </p:sp>
      <p:sp>
        <p:nvSpPr>
          <p:cNvPr id="65" name="Text 63"/>
          <p:cNvSpPr/>
          <p:nvPr/>
        </p:nvSpPr>
        <p:spPr>
          <a:xfrm>
            <a:off x="11460175" y="6126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AF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↘</a:t>
            </a:r>
            <a:endParaRPr lang="en-US" sz="2200" dirty="0"/>
          </a:p>
        </p:txBody>
      </p:sp>
      <p:pic>
        <p:nvPicPr>
          <p:cNvPr id="66" name="Image 0" descr="/home/user/data-manipulation-exercises/.claude/skills/arpejo-report-desdobramento/assets/arpejo-repor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7048" y="2286000"/>
            <a:ext cx="3657600" cy="1096403"/>
          </a:xfrm>
          <a:prstGeom prst="rect">
            <a:avLst/>
          </a:prstGeom>
        </p:spPr>
      </p:pic>
      <p:sp>
        <p:nvSpPr>
          <p:cNvPr id="67" name="Text 64"/>
          <p:cNvSpPr/>
          <p:nvPr/>
        </p:nvSpPr>
        <p:spPr>
          <a:xfrm>
            <a:off x="2438248" y="3840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DAFF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resumo do mês, feito pra você</a:t>
            </a:r>
            <a:endParaRPr lang="en-US" sz="2000" dirty="0"/>
          </a:p>
        </p:txBody>
      </p:sp>
      <p:sp>
        <p:nvSpPr>
          <p:cNvPr id="68" name="Text 65"/>
          <p:cNvSpPr/>
          <p:nvPr/>
        </p:nvSpPr>
        <p:spPr>
          <a:xfrm>
            <a:off x="4267048" y="4480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agosto_26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AFF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report↗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181448" y="228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arpejo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97135" y="228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agosto_26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3393338" cy="4023360"/>
          </a:xfrm>
          <a:prstGeom prst="roundRect">
            <a:avLst>
              <a:gd name="adj" fmla="val 3234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2148840"/>
            <a:ext cx="2936138" cy="640080"/>
          </a:xfrm>
          <a:prstGeom prst="ellipse">
            <a:avLst/>
          </a:prstGeom>
          <a:ln w="19050">
            <a:solidFill>
              <a:srgbClr val="DAFF9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148840"/>
            <a:ext cx="29361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AFF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Reddit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971800"/>
            <a:ext cx="284469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Ultrapassou meio bilhão de usuários semanais; receita publicitária cresceu 64% no 2º tri de 2026.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99178" y="1920240"/>
            <a:ext cx="3393338" cy="4023360"/>
          </a:xfrm>
          <a:prstGeom prst="roundRect">
            <a:avLst>
              <a:gd name="adj" fmla="val 3234"/>
            </a:avLst>
          </a:prstGeom>
          <a:solidFill>
            <a:srgbClr val="000000"/>
          </a:solidFill>
          <a:ln/>
        </p:spPr>
      </p:sp>
      <p:sp>
        <p:nvSpPr>
          <p:cNvPr id="11" name="Shape 9"/>
          <p:cNvSpPr/>
          <p:nvPr/>
        </p:nvSpPr>
        <p:spPr>
          <a:xfrm>
            <a:off x="4627778" y="2148840"/>
            <a:ext cx="2936138" cy="640080"/>
          </a:xfrm>
          <a:prstGeom prst="ellipse">
            <a:avLst/>
          </a:prstGeom>
          <a:ln w="19050">
            <a:solidFill>
              <a:srgbClr val="DAFF9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7778" y="2148840"/>
            <a:ext cx="29361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AFF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73498" y="2971800"/>
            <a:ext cx="284469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Buscas por IA (Agentic Search) para descobrir produtos cresceram 200% em 1 ano.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58277" y="1920240"/>
            <a:ext cx="3393338" cy="4023360"/>
          </a:xfrm>
          <a:prstGeom prst="roundRect">
            <a:avLst>
              <a:gd name="adj" fmla="val 3234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8386877" y="2148840"/>
            <a:ext cx="2936138" cy="640080"/>
          </a:xfrm>
          <a:prstGeom prst="ellipse">
            <a:avLst/>
          </a:prstGeom>
          <a:ln w="19050">
            <a:solidFill>
              <a:srgbClr val="DAFF9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86877" y="2148840"/>
            <a:ext cx="29361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AFF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WhatsApp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32597" y="2971800"/>
            <a:ext cx="284469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 dos brasileiros já compraram produtos direto pelo app; 77% usam para falar com empresas.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277295" y="5943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↘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AF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TRENDS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364328" cy="5120640"/>
          </a:xfrm>
          <a:prstGeom prst="roundRect">
            <a:avLst>
              <a:gd name="adj" fmla="val 2679"/>
            </a:avLst>
          </a:prstGeom>
          <a:solidFill>
            <a:srgbClr val="DAFF9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481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HIPER-REALIDADE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481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ou offline, o que conta é a experiência.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481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dos jovens da Geração Z afirmam que “é tudo real”, sem diferenciar experiências virtuais das físicas.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4617720"/>
            <a:ext cx="481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as marcas: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4983480"/>
            <a:ext cx="48156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importa é a experiência que a marca proporciona, real ou gerada por IA.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78728" y="1188720"/>
            <a:ext cx="5364328" cy="5120640"/>
          </a:xfrm>
          <a:prstGeom prst="roundRect">
            <a:avLst>
              <a:gd name="adj" fmla="val 2679"/>
            </a:avLst>
          </a:prstGeom>
          <a:solidFill>
            <a:srgbClr val="DAFF94"/>
          </a:solidFill>
          <a:ln/>
        </p:spPr>
      </p:sp>
      <p:sp>
        <p:nvSpPr>
          <p:cNvPr id="10" name="Text 8"/>
          <p:cNvSpPr/>
          <p:nvPr/>
        </p:nvSpPr>
        <p:spPr>
          <a:xfrm>
            <a:off x="6553048" y="1417320"/>
            <a:ext cx="481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EXPERIÊNCIAS TRANSFORMADORAS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553048" y="2377440"/>
            <a:ext cx="481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Catalisadoras de transformação pessoal.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53048" y="3063240"/>
            <a:ext cx="481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 das pessoas querem vivências significativas; 87% dizem que as melhores experiências são as que as transformam de alguma forma.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53048" y="4617720"/>
            <a:ext cx="481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as marcas: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553048" y="4983480"/>
            <a:ext cx="48156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quanto mais a marca contribuir para a evolução pessoal do cliente, maior a fidelização.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AF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TRENDS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364328" cy="5120640"/>
          </a:xfrm>
          <a:prstGeom prst="roundRect">
            <a:avLst>
              <a:gd name="adj" fmla="val 2679"/>
            </a:avLst>
          </a:prstGeom>
          <a:solidFill>
            <a:srgbClr val="DAFF9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481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NEW-WAVE SPORT FANDOM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481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nova geração de fãs redesenha o esporte.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481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em cada 4 novos fãs de Fórmula 1 são mulheres; o esporte vira território de moda, beleza e lifestyle.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4617720"/>
            <a:ext cx="481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as marcas: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4983480"/>
            <a:ext cx="48156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esporte deixou de ser só competição — virou cultura, entretenimento e estilo de vida.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78728" y="1188720"/>
            <a:ext cx="5364328" cy="5120640"/>
          </a:xfrm>
          <a:prstGeom prst="roundRect">
            <a:avLst>
              <a:gd name="adj" fmla="val 2679"/>
            </a:avLst>
          </a:prstGeom>
          <a:solidFill>
            <a:srgbClr val="DAFF94"/>
          </a:solidFill>
          <a:ln/>
        </p:spPr>
      </p:sp>
      <p:sp>
        <p:nvSpPr>
          <p:cNvPr id="10" name="Text 8"/>
          <p:cNvSpPr/>
          <p:nvPr/>
        </p:nvSpPr>
        <p:spPr>
          <a:xfrm>
            <a:off x="6553048" y="1417320"/>
            <a:ext cx="481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GERAÇÃO SEM RESSACA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553048" y="2377440"/>
            <a:ext cx="481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Menos álcool, mais intenção no consumo.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53048" y="3063240"/>
            <a:ext cx="481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 dos brasileiros declararam não consumir álcool em 2025, contra 55% em 2023.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53048" y="4617720"/>
            <a:ext cx="481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as marcas: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553048" y="4983480"/>
            <a:ext cx="48156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 de tirar o álcool do centro da experiência sem tirar a experiência do centro.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73736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8892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84048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89204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99516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4672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09828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14984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1645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737360" y="1645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88920" y="1645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40480" y="1645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92040" y="1645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0" y="1645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995160" y="1645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046720" y="1645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098280" y="1645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149840" y="1645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5800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737360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88920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40480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92040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43600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995160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046720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098280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149840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5800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737360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788920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840480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92040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943600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995160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046720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098280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149840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85800" y="4526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737360" y="4526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788920" y="4526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840480" y="4526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92040" y="4526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943600" y="4526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995160" y="4526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046720" y="4526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9098280" y="4526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149840" y="4526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85800" y="5486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737360" y="5486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788920" y="5486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840480" y="5486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892040" y="5486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943600" y="5486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995160" y="5486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046720" y="5486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9098280" y="5486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0149840" y="5486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AF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@ARPEJO — O QUE FIZEMOS ESSE MÊS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1097280" y="2377440"/>
            <a:ext cx="4572000" cy="822960"/>
          </a:xfrm>
          <a:prstGeom prst="ellipse">
            <a:avLst/>
          </a:prstGeom>
          <a:ln w="1905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97280" y="23774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PagueVeloz — Dia dos Pais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400800" y="3657600"/>
            <a:ext cx="4754880" cy="822960"/>
          </a:xfrm>
          <a:prstGeom prst="ellipse">
            <a:avLst/>
          </a:prstGeom>
          <a:ln w="19050">
            <a:solidFill>
              <a:srgbClr val="DAFF9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00800" y="36576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AFF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Grupo Equatorial — Dia dos Pais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AF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INSIGHTS — inspirações do mês (exclusivo clientes)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454298" cy="4572000"/>
          </a:xfrm>
          <a:prstGeom prst="roundRect">
            <a:avLst>
              <a:gd name="adj" fmla="val 2647"/>
            </a:avLst>
          </a:prstGeom>
          <a:solidFill>
            <a:srgbClr val="141414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54480"/>
            <a:ext cx="3088538" cy="548640"/>
          </a:xfrm>
          <a:prstGeom prst="ellipse">
            <a:avLst/>
          </a:prstGeom>
          <a:ln w="19050">
            <a:solidFill>
              <a:srgbClr val="DAFF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54480"/>
            <a:ext cx="308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AFF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Itaú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299709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Campanha “IA.i”: nova IA do banco, estética artesanal em película, trocadilho entre “IA.I” e “e aí?” para aproximar a tecnologia das pessoas.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68698" y="1371600"/>
            <a:ext cx="3454298" cy="4572000"/>
          </a:xfrm>
          <a:prstGeom prst="roundRect">
            <a:avLst>
              <a:gd name="adj" fmla="val 2647"/>
            </a:avLst>
          </a:prstGeom>
          <a:solidFill>
            <a:srgbClr val="141414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51578" y="1554480"/>
            <a:ext cx="3088538" cy="548640"/>
          </a:xfrm>
          <a:prstGeom prst="ellipse">
            <a:avLst/>
          </a:prstGeom>
          <a:ln w="19050">
            <a:solidFill>
              <a:srgbClr val="DAFF9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51578" y="1554480"/>
            <a:ext cx="308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AFF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Coca-Cola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97298" y="2286000"/>
            <a:ext cx="299709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“O Mundo Pode Esperar” (Dia dos Pais): convida a família a se desconectar das telas, com filmes, influenciadores e participação numa novela da Globo.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88757" y="1371600"/>
            <a:ext cx="3454298" cy="4572000"/>
          </a:xfrm>
          <a:prstGeom prst="roundRect">
            <a:avLst>
              <a:gd name="adj" fmla="val 2647"/>
            </a:avLst>
          </a:prstGeom>
          <a:solidFill>
            <a:srgbClr val="141414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71637" y="1554480"/>
            <a:ext cx="3088538" cy="548640"/>
          </a:xfrm>
          <a:prstGeom prst="ellipse">
            <a:avLst/>
          </a:prstGeom>
          <a:ln w="19050">
            <a:solidFill>
              <a:srgbClr val="DAFF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71637" y="1554480"/>
            <a:ext cx="308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AFF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Reserva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417357" y="2286000"/>
            <a:ext cx="299709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“Quem cuida, ama” (Dia dos Pais): parceria com Safety 1st, linha de roupas “Tal Pai, Tal Filho”, protagonizada por Rodrigo Santoro.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AF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INSIGHTS (continuação)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454298" cy="4572000"/>
          </a:xfrm>
          <a:prstGeom prst="roundRect">
            <a:avLst>
              <a:gd name="adj" fmla="val 2647"/>
            </a:avLst>
          </a:prstGeom>
          <a:solidFill>
            <a:srgbClr val="141414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54480"/>
            <a:ext cx="3088538" cy="548640"/>
          </a:xfrm>
          <a:prstGeom prst="ellipse">
            <a:avLst/>
          </a:prstGeom>
          <a:ln w="19050">
            <a:solidFill>
              <a:srgbClr val="DAFF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54480"/>
            <a:ext cx="308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AFF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Burger King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299709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“Baby Burgers”: simulou um teste de gravidez positivo nas redes para revelar o lançamento de versões menores do Whopper.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68698" y="1371600"/>
            <a:ext cx="3454298" cy="4572000"/>
          </a:xfrm>
          <a:prstGeom prst="roundRect">
            <a:avLst>
              <a:gd name="adj" fmla="val 2647"/>
            </a:avLst>
          </a:prstGeom>
          <a:solidFill>
            <a:srgbClr val="141414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51578" y="1554480"/>
            <a:ext cx="3088538" cy="548640"/>
          </a:xfrm>
          <a:prstGeom prst="ellipse">
            <a:avLst/>
          </a:prstGeom>
          <a:ln w="19050">
            <a:solidFill>
              <a:srgbClr val="DAFF9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51578" y="1554480"/>
            <a:ext cx="308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AFF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Chevrolet + iFood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97298" y="2286000"/>
            <a:ext cx="299709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Aproveitou a promessa do iFood de entregar tudo durante a Copa para lançar o Novo Sonic dentro do próprio app de delivery.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88757" y="1371600"/>
            <a:ext cx="3454298" cy="4572000"/>
          </a:xfrm>
          <a:prstGeom prst="roundRect">
            <a:avLst>
              <a:gd name="adj" fmla="val 2647"/>
            </a:avLst>
          </a:prstGeom>
          <a:solidFill>
            <a:srgbClr val="141414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71637" y="1554480"/>
            <a:ext cx="3088538" cy="548640"/>
          </a:xfrm>
          <a:prstGeom prst="ellipse">
            <a:avLst/>
          </a:prstGeom>
          <a:ln w="19050">
            <a:solidFill>
              <a:srgbClr val="DAFF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71637" y="1554480"/>
            <a:ext cx="308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AFF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Burger King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417357" y="2286000"/>
            <a:ext cx="299709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“King Cheese”: brinca com o ditado “mineiro come quieto”, com desconto ativado por frase-senha no drive-thru.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AF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INDICAÇÕES ARPEJERS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Leituras recomendadas pelo time este mês: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AF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 Slow-living como status de luxo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AF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 “O perigo de estar lúcida” — Rosa Monteiro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34840" y="594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0" y="594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37960" y="594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589520" y="594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41080" y="594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92640" y="594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434840" y="1600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0" y="1600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37960" y="1600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589520" y="1600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41080" y="1600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692640" y="1600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34840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0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37960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589520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41080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692640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34840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0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37960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589520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641080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692640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434840" y="4617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0" y="4617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537960" y="4617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589520" y="4617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641080" y="4617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692640" y="4617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434840" y="5623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0" y="5623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537960" y="5623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589520" y="5623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641080" y="5623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692640" y="5623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" y="10972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DAFF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FONTES →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5029200" y="1280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 Remio — Reddit supera previsões de receita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29200" y="18288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 Opinion Box — Pesquisa WhatsApp no Brasil 2026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029200" y="2377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 Sales Force — Shopping's New First Step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029200" y="29260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 LinkedIn — How to Maximize AI Visibility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029200" y="3474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 Estadão — Menos álcool nas mesas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94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828800" y="594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880360" y="594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931920" y="594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983480" y="594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035040" y="594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086600" y="594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138160" y="594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89720" y="594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241280" y="594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1600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28800" y="1600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80360" y="1600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931920" y="1600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83480" y="1600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35040" y="1600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086600" y="1600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138160" y="1600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189720" y="1600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241280" y="1600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28800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880360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931920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83480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35040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086600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138160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189720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241280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77240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828800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880360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931920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983480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035040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086600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138160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189720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241280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77240" y="4617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828800" y="4617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880360" y="4617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931920" y="4617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983480" y="4617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035040" y="4617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086600" y="4617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138160" y="4617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9189720" y="4617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0241280" y="4617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77240" y="5623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828800" y="5623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880360" y="5623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931920" y="5623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983480" y="5623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035040" y="5623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086600" y="5623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138160" y="5623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9189720" y="5623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10241280" y="5623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pic>
        <p:nvPicPr>
          <p:cNvPr id="62" name="Image 0" descr="/home/user/data-manipulation-exercises/.claude/skills/arpejo-report-desdobramento/assets/arpejo-repor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7048" y="2697480"/>
            <a:ext cx="3657600" cy="1096403"/>
          </a:xfrm>
          <a:prstGeom prst="rect">
            <a:avLst/>
          </a:prstGeom>
        </p:spPr>
      </p:pic>
      <p:sp>
        <p:nvSpPr>
          <p:cNvPr id="63" name="Text 60"/>
          <p:cNvSpPr/>
          <p:nvPr/>
        </p:nvSpPr>
        <p:spPr>
          <a:xfrm>
            <a:off x="3352648" y="3977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AFF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até o mês que vem.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2026-08-10T13:26:09Z</dcterms:created>
  <dcterms:modified xsi:type="dcterms:W3CDTF">2026-08-10T13:26:09Z</dcterms:modified>
</cp:coreProperties>
</file>