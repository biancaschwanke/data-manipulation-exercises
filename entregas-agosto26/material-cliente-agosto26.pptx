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Default ContentType="application/x-fontdata" Extension="fntdata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embeddedFontLst>
    <p:embeddedFont>
      <p:font typeface="JetBrains Mono Medium"/>
      <p:regular r:id="rId17"/>
      <p:bold r:id="rId18"/>
      <p:italic r:id="rId19"/>
      <p:boldItalic r:id="rId20"/>
    </p:embeddedFont>
    <p:embeddedFont>
      <p:font typeface="Urbanist"/>
      <p:regular r:id="rId21"/>
      <p:bold r:id="rId22"/>
      <p:italic r:id="rId23"/>
      <p:boldItalic r:id="rId24"/>
    </p:embeddedFont>
    <p:embeddedFont>
      <p:font typeface="Libre Baskerville"/>
      <p:regular r:id="rId25"/>
      <p:bold r:id="rId26"/>
      <p:italic r:id="rId27"/>
      <p:boldItalic r:id="rId28"/>
    </p:embeddedFont>
    <p:embeddedFont>
      <p:font typeface="Ubuntu Mono"/>
      <p:regular r:id="rId29"/>
      <p:bold r:id="rId30"/>
      <p:italic r:id="rId31"/>
      <p:boldItalic r:id="rId32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font" Target="fonts/JetBrainsMonoMedium-regular.fntdata"/><Relationship Id="rId18" Type="http://schemas.openxmlformats.org/officeDocument/2006/relationships/font" Target="fonts/JetBrainsMonoMedium-bold.fntdata"/><Relationship Id="rId19" Type="http://schemas.openxmlformats.org/officeDocument/2006/relationships/font" Target="fonts/JetBrainsMonoMedium-italic.fntdata"/><Relationship Id="rId20" Type="http://schemas.openxmlformats.org/officeDocument/2006/relationships/font" Target="fonts/JetBrainsMonoMedium-boldItalic.fntdata"/><Relationship Id="rId21" Type="http://schemas.openxmlformats.org/officeDocument/2006/relationships/font" Target="fonts/Urbanist-regular.fntdata"/><Relationship Id="rId22" Type="http://schemas.openxmlformats.org/officeDocument/2006/relationships/font" Target="fonts/Urbanist-bold.fntdata"/><Relationship Id="rId23" Type="http://schemas.openxmlformats.org/officeDocument/2006/relationships/font" Target="fonts/Urbanist-italic.fntdata"/><Relationship Id="rId24" Type="http://schemas.openxmlformats.org/officeDocument/2006/relationships/font" Target="fonts/Urbanist-boldItalic.fntdata"/><Relationship Id="rId25" Type="http://schemas.openxmlformats.org/officeDocument/2006/relationships/font" Target="fonts/LibreBaskerville-regular.fntdata"/><Relationship Id="rId26" Type="http://schemas.openxmlformats.org/officeDocument/2006/relationships/font" Target="fonts/LibreBaskerville-bold.fntdata"/><Relationship Id="rId27" Type="http://schemas.openxmlformats.org/officeDocument/2006/relationships/font" Target="fonts/LibreBaskerville-italic.fntdata"/><Relationship Id="rId28" Type="http://schemas.openxmlformats.org/officeDocument/2006/relationships/font" Target="fonts/LibreBaskerville-boldItalic.fntdata"/><Relationship Id="rId29" Type="http://schemas.openxmlformats.org/officeDocument/2006/relationships/font" Target="fonts/UbuntuMono-regular.fntdata"/><Relationship Id="rId30" Type="http://schemas.openxmlformats.org/officeDocument/2006/relationships/font" Target="fonts/UbuntuMono-bold.fntdata"/><Relationship Id="rId31" Type="http://schemas.openxmlformats.org/officeDocument/2006/relationships/font" Target="fonts/UbuntuMono-italic.fntdata"/><Relationship Id="rId32" Type="http://schemas.openxmlformats.org/officeDocument/2006/relationships/font" Target="fonts/UbuntuMono-boldItalic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2.png"/><Relationship Id="rId4" Type="http://schemas.openxmlformats.org/officeDocument/2006/relationships/image" Target="../media/image-1-2.png"/><Relationship Id="rId5" Type="http://schemas.openxmlformats.org/officeDocument/2006/relationships/image" Target="../media/image-1-2.png"/><Relationship Id="rId6" Type="http://schemas.openxmlformats.org/officeDocument/2006/relationships/image" Target="../media/image-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1.png"/><Relationship Id="rId3" Type="http://schemas.openxmlformats.org/officeDocument/2006/relationships/image" Target="../media/image-2-1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image" Target="../media/image-3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image" Target="../media/image-4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1.png"/><Relationship Id="rId3" Type="http://schemas.openxmlformats.org/officeDocument/2006/relationships/image" Target="../media/image-6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1.png"/><Relationship Id="rId3" Type="http://schemas.openxmlformats.org/officeDocument/2006/relationships/image" Target="../media/image-7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data-manipulation-exercises/.claude/skills/brand-guidelines/assets/textures/plus-grid-on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/home/user/data-manipulation-exercises/.claude/skills/brand-guidelines/assets/textures/arrow-lim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200000">
            <a:off x="320040" y="320040"/>
            <a:ext cx="292608" cy="292608"/>
          </a:xfrm>
          <a:prstGeom prst="rect">
            <a:avLst/>
          </a:prstGeom>
        </p:spPr>
      </p:pic>
      <p:pic>
        <p:nvPicPr>
          <p:cNvPr id="4" name="Image 2" descr="/home/user/data-manipulation-exercises/.claude/skills/brand-guidelines/assets/textures/arrow-lim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579047" y="320040"/>
            <a:ext cx="292608" cy="292608"/>
          </a:xfrm>
          <a:prstGeom prst="rect">
            <a:avLst/>
          </a:prstGeom>
        </p:spPr>
      </p:pic>
      <p:pic>
        <p:nvPicPr>
          <p:cNvPr id="5" name="Image 3" descr="/home/user/data-manipulation-exercises/.claude/skills/brand-guidelines/assets/textures/arrow-lim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10800000">
            <a:off x="320040" y="6245352"/>
            <a:ext cx="292608" cy="292608"/>
          </a:xfrm>
          <a:prstGeom prst="rect">
            <a:avLst/>
          </a:prstGeom>
        </p:spPr>
      </p:pic>
      <p:pic>
        <p:nvPicPr>
          <p:cNvPr id="6" name="Image 4" descr="/home/user/data-manipulation-exercises/.claude/skills/brand-guidelines/assets/textures/arrow-lim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5400000">
            <a:off x="11579047" y="6245352"/>
            <a:ext cx="292608" cy="292608"/>
          </a:xfrm>
          <a:prstGeom prst="rect">
            <a:avLst/>
          </a:prstGeom>
        </p:spPr>
      </p:pic>
      <p:pic>
        <p:nvPicPr>
          <p:cNvPr id="7" name="Image 5" descr="/home/user/data-manipulation-exercises/.claude/skills/arpejo-report-desdobramento/assets/arpejo-report-logo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67048" y="2286000"/>
            <a:ext cx="3657600" cy="1096403"/>
          </a:xfrm>
          <a:prstGeom prst="rect">
            <a:avLst/>
          </a:prstGeom>
        </p:spPr>
      </p:pic>
      <p:sp>
        <p:nvSpPr>
          <p:cNvPr id="8" name="Text 0"/>
          <p:cNvSpPr/>
          <p:nvPr/>
        </p:nvSpPr>
        <p:spPr>
          <a:xfrm>
            <a:off x="2438248" y="384048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rgbClr val="DAFF94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resumo do mês, feito pra você</a:t>
            </a:r>
            <a:endParaRPr lang="en-US" sz="2000" dirty="0"/>
          </a:p>
        </p:txBody>
      </p:sp>
      <p:sp>
        <p:nvSpPr>
          <p:cNvPr id="9" name="Text 1"/>
          <p:cNvSpPr/>
          <p:nvPr/>
        </p:nvSpPr>
        <p:spPr>
          <a:xfrm>
            <a:off x="4267048" y="448056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agosto_26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DAFF9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report↗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181448" y="2286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000000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arpejo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9997135" y="2286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agosto_26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40080" y="100584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i="1" dirty="0">
                <a:solidFill>
                  <a:srgbClr val="000000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NEWS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640080" y="1920240"/>
            <a:ext cx="3393338" cy="4023360"/>
          </a:xfrm>
          <a:prstGeom prst="roundRect">
            <a:avLst>
              <a:gd name="adj" fmla="val 3234"/>
            </a:avLst>
          </a:prstGeom>
          <a:solidFill>
            <a:srgbClr val="000000"/>
          </a:solidFill>
          <a:ln/>
        </p:spPr>
      </p:sp>
      <p:sp>
        <p:nvSpPr>
          <p:cNvPr id="7" name="Shape 5"/>
          <p:cNvSpPr/>
          <p:nvPr/>
        </p:nvSpPr>
        <p:spPr>
          <a:xfrm>
            <a:off x="868680" y="2148840"/>
            <a:ext cx="2936138" cy="640080"/>
          </a:xfrm>
          <a:prstGeom prst="ellipse">
            <a:avLst/>
          </a:prstGeom>
          <a:ln w="19050">
            <a:solidFill>
              <a:srgbClr val="DAFF9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68680" y="2148840"/>
            <a:ext cx="293613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DAFF94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Reddit</a:t>
            </a:r>
            <a:endParaRPr lang="en-US" sz="1400" dirty="0"/>
          </a:p>
        </p:txBody>
      </p:sp>
      <p:pic>
        <p:nvPicPr>
          <p:cNvPr id="9" name="Image 0" descr="/home/user/data-manipulation-exercises/.claude/skills/brand-guidelines/assets/textures/globe-lim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16635" y="2334463"/>
            <a:ext cx="268834" cy="268834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914400" y="2971800"/>
            <a:ext cx="2844698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Ultrapassou meio bilhão de usuários semanais; receita publicitária cresceu 64% no 2º tri de 2026.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4399178" y="1920240"/>
            <a:ext cx="3393338" cy="4023360"/>
          </a:xfrm>
          <a:prstGeom prst="roundRect">
            <a:avLst>
              <a:gd name="adj" fmla="val 3234"/>
            </a:avLst>
          </a:prstGeom>
          <a:solidFill>
            <a:srgbClr val="000000"/>
          </a:solidFill>
          <a:ln/>
        </p:spPr>
      </p:sp>
      <p:sp>
        <p:nvSpPr>
          <p:cNvPr id="12" name="Shape 9"/>
          <p:cNvSpPr/>
          <p:nvPr/>
        </p:nvSpPr>
        <p:spPr>
          <a:xfrm>
            <a:off x="4627778" y="2148840"/>
            <a:ext cx="2936138" cy="640080"/>
          </a:xfrm>
          <a:prstGeom prst="ellipse">
            <a:avLst/>
          </a:prstGeom>
          <a:ln w="19050">
            <a:solidFill>
              <a:srgbClr val="DAFF94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4627778" y="2148840"/>
            <a:ext cx="293613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DAFF94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IA</a:t>
            </a:r>
            <a:endParaRPr lang="en-US" sz="1400" dirty="0"/>
          </a:p>
        </p:txBody>
      </p:sp>
      <p:pic>
        <p:nvPicPr>
          <p:cNvPr id="14" name="Image 1" descr="/home/user/data-manipulation-exercises/.claude/skills/brand-guidelines/assets/textures/globe-lim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75733" y="2334463"/>
            <a:ext cx="268834" cy="268834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4673498" y="2971800"/>
            <a:ext cx="2844698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Buscas por IA (Agentic Search) para descobrir produtos cresceram 200% em 1 ano.</a:t>
            </a:r>
            <a:endParaRPr lang="en-US" sz="1200" dirty="0"/>
          </a:p>
        </p:txBody>
      </p:sp>
      <p:sp>
        <p:nvSpPr>
          <p:cNvPr id="16" name="Shape 12"/>
          <p:cNvSpPr/>
          <p:nvPr/>
        </p:nvSpPr>
        <p:spPr>
          <a:xfrm>
            <a:off x="8158277" y="1920240"/>
            <a:ext cx="3393338" cy="4023360"/>
          </a:xfrm>
          <a:prstGeom prst="roundRect">
            <a:avLst>
              <a:gd name="adj" fmla="val 3234"/>
            </a:avLst>
          </a:prstGeom>
          <a:solidFill>
            <a:srgbClr val="000000"/>
          </a:solidFill>
          <a:ln/>
        </p:spPr>
      </p:sp>
      <p:sp>
        <p:nvSpPr>
          <p:cNvPr id="17" name="Shape 13"/>
          <p:cNvSpPr/>
          <p:nvPr/>
        </p:nvSpPr>
        <p:spPr>
          <a:xfrm>
            <a:off x="8386877" y="2148840"/>
            <a:ext cx="2936138" cy="640080"/>
          </a:xfrm>
          <a:prstGeom prst="ellipse">
            <a:avLst/>
          </a:prstGeom>
          <a:ln w="19050">
            <a:solidFill>
              <a:srgbClr val="DAFF94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8386877" y="2148840"/>
            <a:ext cx="293613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DAFF94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WhatsApp</a:t>
            </a:r>
            <a:endParaRPr lang="en-US" sz="1400" dirty="0"/>
          </a:p>
        </p:txBody>
      </p:sp>
      <p:pic>
        <p:nvPicPr>
          <p:cNvPr id="19" name="Image 2" descr="/home/user/data-manipulation-exercises/.claude/skills/brand-guidelines/assets/textures/globe-lim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34832" y="2334463"/>
            <a:ext cx="268834" cy="268834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8432597" y="2971800"/>
            <a:ext cx="2844698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75% dos brasileiros já compraram produtos direto pelo app; 77% usam para falar com empresas.</a:t>
            </a:r>
            <a:endParaRPr lang="en-US" sz="1200" dirty="0"/>
          </a:p>
        </p:txBody>
      </p:sp>
      <p:pic>
        <p:nvPicPr>
          <p:cNvPr id="21" name="Image 3" descr="/home/user/data-manipulation-exercises/.claude/skills/brand-guidelines/assets/textures/arrow-black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5400000">
            <a:off x="11277295" y="5943600"/>
            <a:ext cx="292608" cy="29260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AFF9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TRENDS</a:t>
            </a:r>
            <a:endParaRPr lang="en-US" sz="1300" dirty="0"/>
          </a:p>
        </p:txBody>
      </p:sp>
      <p:pic>
        <p:nvPicPr>
          <p:cNvPr id="3" name="Image 0" descr="/tmp/claude-0/-home-user-data-manipulation-exercises/f19acac8-ccb4-5197-8e49-c3b6029ad477/scratchpad/report-images/final/trend-hiper-realidade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188720"/>
            <a:ext cx="5364328" cy="512064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48640" y="1188720"/>
            <a:ext cx="5364328" cy="5120640"/>
          </a:xfrm>
          <a:prstGeom prst="roundRect">
            <a:avLst>
              <a:gd name="adj" fmla="val 2679"/>
            </a:avLst>
          </a:prstGeom>
          <a:ln w="12700">
            <a:solidFill>
              <a:srgbClr val="000000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548640" y="3339389"/>
            <a:ext cx="5364328" cy="2969971"/>
          </a:xfrm>
          <a:prstGeom prst="rect">
            <a:avLst/>
          </a:prstGeom>
          <a:solidFill>
            <a:srgbClr val="000000">
              <a:alpha val="70000"/>
            </a:srgbClr>
          </a:solidFill>
          <a:ln/>
        </p:spPr>
      </p:sp>
      <p:sp>
        <p:nvSpPr>
          <p:cNvPr id="6" name="Text 3"/>
          <p:cNvSpPr/>
          <p:nvPr/>
        </p:nvSpPr>
        <p:spPr>
          <a:xfrm>
            <a:off x="822960" y="3522269"/>
            <a:ext cx="48156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i="1" dirty="0">
                <a:solidFill>
                  <a:srgbClr val="DAFF94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HIPER-REALIDADE</a:t>
            </a:r>
            <a:endParaRPr lang="en-US" sz="1700" dirty="0"/>
          </a:p>
        </p:txBody>
      </p:sp>
      <p:sp>
        <p:nvSpPr>
          <p:cNvPr id="7" name="Text 4"/>
          <p:cNvSpPr/>
          <p:nvPr/>
        </p:nvSpPr>
        <p:spPr>
          <a:xfrm>
            <a:off x="822960" y="3933749"/>
            <a:ext cx="48156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FFFFFF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Online ou offline, o que conta é a experiência.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822960" y="4253789"/>
            <a:ext cx="48156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40% dos jovens da Geração Z afirmam que “é tudo real”, sem diferenciar experiências virtuais das físicas.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822960" y="5031029"/>
            <a:ext cx="4815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AFF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as marcas: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822960" y="5305349"/>
            <a:ext cx="48156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importa é a experiência que a marca proporciona, real ou gerada por IA.</a:t>
            </a:r>
            <a:endParaRPr lang="en-US" sz="1000" dirty="0"/>
          </a:p>
        </p:txBody>
      </p:sp>
      <p:pic>
        <p:nvPicPr>
          <p:cNvPr id="11" name="Image 1" descr="/tmp/claude-0/-home-user-data-manipulation-exercises/f19acac8-ccb4-5197-8e49-c3b6029ad477/scratchpad/report-images/final/trend-experiencias-transformadoras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278728" y="1188720"/>
            <a:ext cx="5364328" cy="5120640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6278728" y="1188720"/>
            <a:ext cx="5364328" cy="5120640"/>
          </a:xfrm>
          <a:prstGeom prst="roundRect">
            <a:avLst>
              <a:gd name="adj" fmla="val 2679"/>
            </a:avLst>
          </a:prstGeom>
          <a:ln w="12700">
            <a:solidFill>
              <a:srgbClr val="000000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6278728" y="3339389"/>
            <a:ext cx="5364328" cy="2969971"/>
          </a:xfrm>
          <a:prstGeom prst="rect">
            <a:avLst/>
          </a:prstGeom>
          <a:solidFill>
            <a:srgbClr val="000000">
              <a:alpha val="70000"/>
            </a:srgbClr>
          </a:solidFill>
          <a:ln/>
        </p:spPr>
      </p:sp>
      <p:sp>
        <p:nvSpPr>
          <p:cNvPr id="14" name="Text 10"/>
          <p:cNvSpPr/>
          <p:nvPr/>
        </p:nvSpPr>
        <p:spPr>
          <a:xfrm>
            <a:off x="6553048" y="3522269"/>
            <a:ext cx="48156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i="1" dirty="0">
                <a:solidFill>
                  <a:srgbClr val="DAFF94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EXPERIÊNCIAS TRANSFORMADORAS</a:t>
            </a:r>
            <a:endParaRPr lang="en-US" sz="1700" dirty="0"/>
          </a:p>
        </p:txBody>
      </p:sp>
      <p:sp>
        <p:nvSpPr>
          <p:cNvPr id="15" name="Text 11"/>
          <p:cNvSpPr/>
          <p:nvPr/>
        </p:nvSpPr>
        <p:spPr>
          <a:xfrm>
            <a:off x="6553048" y="3933749"/>
            <a:ext cx="48156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FFFFFF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Catalisadoras de transformação pessoal.</a:t>
            </a:r>
            <a:endParaRPr lang="en-US" sz="1050" dirty="0"/>
          </a:p>
        </p:txBody>
      </p:sp>
      <p:sp>
        <p:nvSpPr>
          <p:cNvPr id="16" name="Text 12"/>
          <p:cNvSpPr/>
          <p:nvPr/>
        </p:nvSpPr>
        <p:spPr>
          <a:xfrm>
            <a:off x="6553048" y="4253789"/>
            <a:ext cx="48156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88% das pessoas querem vivências significativas; 87% dizem que as melhores experiências são as que as transformam de alguma forma.</a:t>
            </a:r>
            <a:endParaRPr lang="en-US" sz="1000" dirty="0"/>
          </a:p>
        </p:txBody>
      </p:sp>
      <p:sp>
        <p:nvSpPr>
          <p:cNvPr id="17" name="Text 13"/>
          <p:cNvSpPr/>
          <p:nvPr/>
        </p:nvSpPr>
        <p:spPr>
          <a:xfrm>
            <a:off x="6553048" y="5031029"/>
            <a:ext cx="4815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AFF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as marcas:</a:t>
            </a:r>
            <a:endParaRPr lang="en-US" sz="1000" dirty="0"/>
          </a:p>
        </p:txBody>
      </p:sp>
      <p:sp>
        <p:nvSpPr>
          <p:cNvPr id="18" name="Text 14"/>
          <p:cNvSpPr/>
          <p:nvPr/>
        </p:nvSpPr>
        <p:spPr>
          <a:xfrm>
            <a:off x="6553048" y="5305349"/>
            <a:ext cx="48156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quanto mais a marca contribuir para a evolução pessoal do cliente, maior a fidelização.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AFF9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TRENDS</a:t>
            </a:r>
            <a:endParaRPr lang="en-US" sz="1300" dirty="0"/>
          </a:p>
        </p:txBody>
      </p:sp>
      <p:pic>
        <p:nvPicPr>
          <p:cNvPr id="3" name="Image 0" descr="/tmp/claude-0/-home-user-data-manipulation-exercises/f19acac8-ccb4-5197-8e49-c3b6029ad477/scratchpad/report-images/final/trend-sport-fandom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188720"/>
            <a:ext cx="5364328" cy="512064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48640" y="1188720"/>
            <a:ext cx="5364328" cy="5120640"/>
          </a:xfrm>
          <a:prstGeom prst="roundRect">
            <a:avLst>
              <a:gd name="adj" fmla="val 2679"/>
            </a:avLst>
          </a:prstGeom>
          <a:ln w="12700">
            <a:solidFill>
              <a:srgbClr val="000000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548640" y="3339389"/>
            <a:ext cx="5364328" cy="2969971"/>
          </a:xfrm>
          <a:prstGeom prst="rect">
            <a:avLst/>
          </a:prstGeom>
          <a:solidFill>
            <a:srgbClr val="000000">
              <a:alpha val="70000"/>
            </a:srgbClr>
          </a:solidFill>
          <a:ln/>
        </p:spPr>
      </p:sp>
      <p:sp>
        <p:nvSpPr>
          <p:cNvPr id="6" name="Text 3"/>
          <p:cNvSpPr/>
          <p:nvPr/>
        </p:nvSpPr>
        <p:spPr>
          <a:xfrm>
            <a:off x="822960" y="3522269"/>
            <a:ext cx="48156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i="1" dirty="0">
                <a:solidFill>
                  <a:srgbClr val="DAFF94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NEW-WAVE SPORT FANDOM</a:t>
            </a:r>
            <a:endParaRPr lang="en-US" sz="1700" dirty="0"/>
          </a:p>
        </p:txBody>
      </p:sp>
      <p:sp>
        <p:nvSpPr>
          <p:cNvPr id="7" name="Text 4"/>
          <p:cNvSpPr/>
          <p:nvPr/>
        </p:nvSpPr>
        <p:spPr>
          <a:xfrm>
            <a:off x="822960" y="3933749"/>
            <a:ext cx="48156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FFFFFF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Uma nova geração de fãs redesenha o esporte.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822960" y="4253789"/>
            <a:ext cx="48156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em cada 4 novos fãs de Fórmula 1 são mulheres; o esporte vira território de moda, beleza e lifestyle.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822960" y="5031029"/>
            <a:ext cx="4815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AFF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as marcas: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822960" y="5305349"/>
            <a:ext cx="48156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esporte deixou de ser só competição — virou cultura, entretenimento e estilo de vida.</a:t>
            </a:r>
            <a:endParaRPr lang="en-US" sz="1000" dirty="0"/>
          </a:p>
        </p:txBody>
      </p:sp>
      <p:pic>
        <p:nvPicPr>
          <p:cNvPr id="11" name="Image 1" descr="/tmp/claude-0/-home-user-data-manipulation-exercises/f19acac8-ccb4-5197-8e49-c3b6029ad477/scratchpad/report-images/final/trend-sem-ressaca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278728" y="1188720"/>
            <a:ext cx="5364328" cy="5120640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6278728" y="1188720"/>
            <a:ext cx="5364328" cy="5120640"/>
          </a:xfrm>
          <a:prstGeom prst="roundRect">
            <a:avLst>
              <a:gd name="adj" fmla="val 2679"/>
            </a:avLst>
          </a:prstGeom>
          <a:ln w="12700">
            <a:solidFill>
              <a:srgbClr val="000000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6278728" y="3339389"/>
            <a:ext cx="5364328" cy="2969971"/>
          </a:xfrm>
          <a:prstGeom prst="rect">
            <a:avLst/>
          </a:prstGeom>
          <a:solidFill>
            <a:srgbClr val="000000">
              <a:alpha val="70000"/>
            </a:srgbClr>
          </a:solidFill>
          <a:ln/>
        </p:spPr>
      </p:sp>
      <p:sp>
        <p:nvSpPr>
          <p:cNvPr id="14" name="Text 10"/>
          <p:cNvSpPr/>
          <p:nvPr/>
        </p:nvSpPr>
        <p:spPr>
          <a:xfrm>
            <a:off x="6553048" y="3522269"/>
            <a:ext cx="48156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i="1" dirty="0">
                <a:solidFill>
                  <a:srgbClr val="DAFF94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GERAÇÃO SEM RESSACA</a:t>
            </a:r>
            <a:endParaRPr lang="en-US" sz="1700" dirty="0"/>
          </a:p>
        </p:txBody>
      </p:sp>
      <p:sp>
        <p:nvSpPr>
          <p:cNvPr id="15" name="Text 11"/>
          <p:cNvSpPr/>
          <p:nvPr/>
        </p:nvSpPr>
        <p:spPr>
          <a:xfrm>
            <a:off x="6553048" y="3933749"/>
            <a:ext cx="48156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FFFFFF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Menos álcool, mais intenção no consumo.</a:t>
            </a:r>
            <a:endParaRPr lang="en-US" sz="1050" dirty="0"/>
          </a:p>
        </p:txBody>
      </p:sp>
      <p:sp>
        <p:nvSpPr>
          <p:cNvPr id="16" name="Text 12"/>
          <p:cNvSpPr/>
          <p:nvPr/>
        </p:nvSpPr>
        <p:spPr>
          <a:xfrm>
            <a:off x="6553048" y="4253789"/>
            <a:ext cx="48156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64% dos brasileiros declararam não consumir álcool em 2025, contra 55% em 2023.</a:t>
            </a:r>
            <a:endParaRPr lang="en-US" sz="1000" dirty="0"/>
          </a:p>
        </p:txBody>
      </p:sp>
      <p:sp>
        <p:nvSpPr>
          <p:cNvPr id="17" name="Text 13"/>
          <p:cNvSpPr/>
          <p:nvPr/>
        </p:nvSpPr>
        <p:spPr>
          <a:xfrm>
            <a:off x="6553048" y="5031029"/>
            <a:ext cx="4815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AFF9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as marcas:</a:t>
            </a:r>
            <a:endParaRPr lang="en-US" sz="1000" dirty="0"/>
          </a:p>
        </p:txBody>
      </p:sp>
      <p:sp>
        <p:nvSpPr>
          <p:cNvPr id="18" name="Text 14"/>
          <p:cNvSpPr/>
          <p:nvPr/>
        </p:nvSpPr>
        <p:spPr>
          <a:xfrm>
            <a:off x="6553048" y="5305349"/>
            <a:ext cx="48156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oportunidade de tirar o álcool do centro da experiência sem tirar a experiência do centro.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data-manipulation-exercises/.claude/skills/brand-guidelines/assets/textures/plus-grid-on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48640" y="45720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AFF9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@ARPEJO — O QUE FIZEMOS ESSE MÊS</a:t>
            </a:r>
            <a:endParaRPr lang="en-US" sz="1300" dirty="0"/>
          </a:p>
        </p:txBody>
      </p:sp>
      <p:sp>
        <p:nvSpPr>
          <p:cNvPr id="4" name="Shape 1"/>
          <p:cNvSpPr/>
          <p:nvPr/>
        </p:nvSpPr>
        <p:spPr>
          <a:xfrm>
            <a:off x="1097280" y="2377440"/>
            <a:ext cx="4572000" cy="822960"/>
          </a:xfrm>
          <a:prstGeom prst="ellipse">
            <a:avLst/>
          </a:prstGeom>
          <a:ln w="19050">
            <a:solidFill>
              <a:srgbClr val="FFFFFF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1097280" y="237744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FFFFFF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PagueVeloz — Dia dos Pais</a:t>
            </a:r>
            <a:endParaRPr lang="en-US" sz="1600" dirty="0"/>
          </a:p>
        </p:txBody>
      </p:sp>
      <p:pic>
        <p:nvPicPr>
          <p:cNvPr id="6" name="Image 1" descr="/home/user/data-manipulation-exercises/.claude/skills/brand-guidelines/assets/textures/globe-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27330" y="2616098"/>
            <a:ext cx="345643" cy="345643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6400800" y="3657600"/>
            <a:ext cx="4754880" cy="822960"/>
          </a:xfrm>
          <a:prstGeom prst="ellipse">
            <a:avLst/>
          </a:prstGeom>
          <a:ln w="19050">
            <a:solidFill>
              <a:srgbClr val="DAFF94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6400800" y="3657600"/>
            <a:ext cx="4754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DAFF94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Grupo Equatorial — Dia dos Pais</a:t>
            </a:r>
            <a:endParaRPr lang="en-US" sz="1600" dirty="0"/>
          </a:p>
        </p:txBody>
      </p:sp>
      <p:pic>
        <p:nvPicPr>
          <p:cNvPr id="9" name="Image 2" descr="/home/user/data-manipulation-exercises/.claude/skills/brand-guidelines/assets/textures/globe-lim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13730" y="3896258"/>
            <a:ext cx="345643" cy="345643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AFF9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INSIGHTS — inspirações do mês (exclusivo clientes)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3454298" cy="4572000"/>
          </a:xfrm>
          <a:prstGeom prst="roundRect">
            <a:avLst>
              <a:gd name="adj" fmla="val 2647"/>
            </a:avLst>
          </a:prstGeom>
          <a:solidFill>
            <a:srgbClr val="141414"/>
          </a:solidFill>
          <a:ln w="9525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554480"/>
            <a:ext cx="3088538" cy="548640"/>
          </a:xfrm>
          <a:prstGeom prst="ellipse">
            <a:avLst/>
          </a:prstGeom>
          <a:ln w="19050">
            <a:solidFill>
              <a:srgbClr val="DAFF9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554480"/>
            <a:ext cx="308853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DAFF94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Itaú</a:t>
            </a:r>
            <a:endParaRPr lang="en-US" sz="1300" dirty="0"/>
          </a:p>
        </p:txBody>
      </p:sp>
      <p:pic>
        <p:nvPicPr>
          <p:cNvPr id="6" name="Image 0" descr="/home/user/data-manipulation-exercises/.claude/skills/brand-guidelines/assets/textures/globe-lim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8758" y="1713586"/>
            <a:ext cx="230429" cy="230429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77240" y="2286000"/>
            <a:ext cx="2997098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Campanha “IA.i”: nova IA do banco, estética artesanal em película, trocadilho entre “IA.I” e “e aí?” para aproximar a tecnologia das pessoas.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4368698" y="1371600"/>
            <a:ext cx="3454298" cy="4572000"/>
          </a:xfrm>
          <a:prstGeom prst="roundRect">
            <a:avLst>
              <a:gd name="adj" fmla="val 2647"/>
            </a:avLst>
          </a:prstGeom>
          <a:solidFill>
            <a:srgbClr val="141414"/>
          </a:solidFill>
          <a:ln w="9525">
            <a:solidFill>
              <a:srgbClr val="333333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551578" y="1554480"/>
            <a:ext cx="3088538" cy="548640"/>
          </a:xfrm>
          <a:prstGeom prst="ellipse">
            <a:avLst/>
          </a:prstGeom>
          <a:ln w="19050">
            <a:solidFill>
              <a:srgbClr val="DAFF94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4551578" y="1554480"/>
            <a:ext cx="308853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DAFF94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Coca-Cola</a:t>
            </a:r>
            <a:endParaRPr lang="en-US" sz="1300" dirty="0"/>
          </a:p>
        </p:txBody>
      </p:sp>
      <p:pic>
        <p:nvPicPr>
          <p:cNvPr id="11" name="Image 1" descr="/home/user/data-manipulation-exercises/.claude/skills/brand-guidelines/assets/textures/globe-lim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78817" y="1713586"/>
            <a:ext cx="230429" cy="230429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597298" y="2286000"/>
            <a:ext cx="2997098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“O Mundo Pode Esperar” (Dia dos Pais): convida a família a se desconectar das telas, com filmes, influenciadores e participação numa novela da Globo.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8188757" y="1371600"/>
            <a:ext cx="3454298" cy="4572000"/>
          </a:xfrm>
          <a:prstGeom prst="roundRect">
            <a:avLst>
              <a:gd name="adj" fmla="val 2647"/>
            </a:avLst>
          </a:prstGeom>
          <a:solidFill>
            <a:srgbClr val="141414"/>
          </a:solidFill>
          <a:ln w="9525">
            <a:solidFill>
              <a:srgbClr val="333333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8371637" y="1554480"/>
            <a:ext cx="3088538" cy="548640"/>
          </a:xfrm>
          <a:prstGeom prst="ellipse">
            <a:avLst/>
          </a:prstGeom>
          <a:ln w="19050">
            <a:solidFill>
              <a:srgbClr val="DAFF94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8371637" y="1554480"/>
            <a:ext cx="308853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DAFF94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Reserva</a:t>
            </a:r>
            <a:endParaRPr lang="en-US" sz="1300" dirty="0"/>
          </a:p>
        </p:txBody>
      </p:sp>
      <p:pic>
        <p:nvPicPr>
          <p:cNvPr id="16" name="Image 2" descr="/home/user/data-manipulation-exercises/.claude/skills/brand-guidelines/assets/textures/globe-lim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98875" y="1713586"/>
            <a:ext cx="230429" cy="230429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417357" y="2286000"/>
            <a:ext cx="2997098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“Quem cuida, ama” (Dia dos Pais): parceria com Safety 1st, linha de roupas “Tal Pai, Tal Filho”, protagonizada por Rodrigo Santoro.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AFF9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INSIGHTS (continuação)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3454298" cy="4572000"/>
          </a:xfrm>
          <a:prstGeom prst="roundRect">
            <a:avLst>
              <a:gd name="adj" fmla="val 2647"/>
            </a:avLst>
          </a:prstGeom>
          <a:solidFill>
            <a:srgbClr val="141414"/>
          </a:solidFill>
          <a:ln w="9525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554480"/>
            <a:ext cx="3088538" cy="548640"/>
          </a:xfrm>
          <a:prstGeom prst="ellipse">
            <a:avLst/>
          </a:prstGeom>
          <a:ln w="19050">
            <a:solidFill>
              <a:srgbClr val="DAFF9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554480"/>
            <a:ext cx="308853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DAFF94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Burger King</a:t>
            </a:r>
            <a:endParaRPr lang="en-US" sz="1300" dirty="0"/>
          </a:p>
        </p:txBody>
      </p:sp>
      <p:pic>
        <p:nvPicPr>
          <p:cNvPr id="6" name="Image 0" descr="/home/user/data-manipulation-exercises/.claude/skills/brand-guidelines/assets/textures/globe-lim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8758" y="1713586"/>
            <a:ext cx="230429" cy="230429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77240" y="2286000"/>
            <a:ext cx="2997098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“Baby Burgers”: simulou um teste de gravidez positivo nas redes para revelar o lançamento de versões menores do Whopper.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4368698" y="1371600"/>
            <a:ext cx="3454298" cy="4572000"/>
          </a:xfrm>
          <a:prstGeom prst="roundRect">
            <a:avLst>
              <a:gd name="adj" fmla="val 2647"/>
            </a:avLst>
          </a:prstGeom>
          <a:solidFill>
            <a:srgbClr val="141414"/>
          </a:solidFill>
          <a:ln w="9525">
            <a:solidFill>
              <a:srgbClr val="333333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551578" y="1554480"/>
            <a:ext cx="3088538" cy="548640"/>
          </a:xfrm>
          <a:prstGeom prst="ellipse">
            <a:avLst/>
          </a:prstGeom>
          <a:ln w="19050">
            <a:solidFill>
              <a:srgbClr val="DAFF94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4551578" y="1554480"/>
            <a:ext cx="308853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DAFF94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Chevrolet + iFood</a:t>
            </a:r>
            <a:endParaRPr lang="en-US" sz="1300" dirty="0"/>
          </a:p>
        </p:txBody>
      </p:sp>
      <p:pic>
        <p:nvPicPr>
          <p:cNvPr id="11" name="Image 1" descr="/home/user/data-manipulation-exercises/.claude/skills/brand-guidelines/assets/textures/globe-lim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78817" y="1713586"/>
            <a:ext cx="230429" cy="230429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597298" y="2286000"/>
            <a:ext cx="2997098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Aproveitou a promessa do iFood de entregar tudo durante a Copa para lançar o Novo Sonic dentro do próprio app de delivery.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8188757" y="1371600"/>
            <a:ext cx="3454298" cy="4572000"/>
          </a:xfrm>
          <a:prstGeom prst="roundRect">
            <a:avLst>
              <a:gd name="adj" fmla="val 2647"/>
            </a:avLst>
          </a:prstGeom>
          <a:solidFill>
            <a:srgbClr val="141414"/>
          </a:solidFill>
          <a:ln w="9525">
            <a:solidFill>
              <a:srgbClr val="333333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8371637" y="1554480"/>
            <a:ext cx="3088538" cy="548640"/>
          </a:xfrm>
          <a:prstGeom prst="ellipse">
            <a:avLst/>
          </a:prstGeom>
          <a:ln w="19050">
            <a:solidFill>
              <a:srgbClr val="DAFF94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8371637" y="1554480"/>
            <a:ext cx="308853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DAFF94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Burger King</a:t>
            </a:r>
            <a:endParaRPr lang="en-US" sz="1300" dirty="0"/>
          </a:p>
        </p:txBody>
      </p:sp>
      <p:pic>
        <p:nvPicPr>
          <p:cNvPr id="16" name="Image 2" descr="/home/user/data-manipulation-exercises/.claude/skills/brand-guidelines/assets/textures/globe-lim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98875" y="1713586"/>
            <a:ext cx="230429" cy="230429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417357" y="2286000"/>
            <a:ext cx="2997098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“King Cheese”: brinca com o ditado “mineiro come quieto”, com desconto ativado por frase-senha no drive-thru.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AFF9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INDICAÇÕES ARPEJERS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118872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Leituras recomendadas pelo time este mês: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201168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AFF9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_ Slow-living como status de luxo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256032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AFF94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_ “O perigo de estar lúcida” — Rosa Monteiro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data-manipulation-exercises/.claude/skills/brand-guidelines/assets/textures/plus-grid-on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48640" y="109728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i="1" dirty="0">
                <a:solidFill>
                  <a:srgbClr val="DAFF94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FONTES →</a:t>
            </a:r>
            <a:endParaRPr lang="en-US" sz="2400" dirty="0"/>
          </a:p>
        </p:txBody>
      </p:sp>
      <p:sp>
        <p:nvSpPr>
          <p:cNvPr id="4" name="Text 1"/>
          <p:cNvSpPr/>
          <p:nvPr/>
        </p:nvSpPr>
        <p:spPr>
          <a:xfrm>
            <a:off x="5029200" y="128016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_ Remio — Reddit supera previsões de receita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5029200" y="182880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_ Opinion Box — Pesquisa WhatsApp no Brasil 2026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029200" y="237744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_ Sales Force — Shopping's New First Step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5029200" y="292608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_ LinkedIn — How to Maximize AI Visibility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5029200" y="34747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_ Estadão — Menos álcool nas mesas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data-manipulation-exercises/.claude/skills/brand-guidelines/assets/textures/plus-grid-on-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/home/user/data-manipulation-exercises/.claude/skills/arpejo-report-desdobramento/assets/arpejo-report-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67048" y="2697480"/>
            <a:ext cx="3657600" cy="1096403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3352648" y="397764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DAFF94"/>
                </a:solidFill>
                <a:latin typeface="Libre Baskerville" pitchFamily="34" charset="0"/>
                <a:ea typeface="Libre Baskerville" pitchFamily="34" charset="-122"/>
                <a:cs typeface="Libre Baskerville" pitchFamily="34" charset="-120"/>
              </a:rPr>
              <a:t>até o mês que vem.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2026-08-10T17:46:31Z</dcterms:created>
  <dcterms:modified xsi:type="dcterms:W3CDTF">2026-08-10T17:46:31Z</dcterms:modified>
</cp:coreProperties>
</file>