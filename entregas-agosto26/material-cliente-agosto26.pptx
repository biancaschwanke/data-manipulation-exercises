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JetBrains Mono Medium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Libre Baskerville"/>
      <p:regular r:id="rId25"/>
      <p:bold r:id="rId26"/>
      <p:italic r:id="rId27"/>
      <p:boldItalic r:id="rId28"/>
    </p:embeddedFont>
    <p:embeddedFont>
      <p:font typeface="Ubuntu Mono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JetBrainsMonoMedium-regular.fntdata"/><Relationship Id="rId18" Type="http://schemas.openxmlformats.org/officeDocument/2006/relationships/font" Target="fonts/JetBrainsMonoMedium-bold.fntdata"/><Relationship Id="rId19" Type="http://schemas.openxmlformats.org/officeDocument/2006/relationships/font" Target="fonts/JetBrainsMonoMedium-italic.fntdata"/><Relationship Id="rId20" Type="http://schemas.openxmlformats.org/officeDocument/2006/relationships/font" Target="fonts/JetBrainsMonoMedium-boldItalic.fntdata"/><Relationship Id="rId21" Type="http://schemas.openxmlformats.org/officeDocument/2006/relationships/font" Target="fonts/Urbanist-regular.fntdata"/><Relationship Id="rId22" Type="http://schemas.openxmlformats.org/officeDocument/2006/relationships/font" Target="fonts/Urbanist-bold.fntdata"/><Relationship Id="rId23" Type="http://schemas.openxmlformats.org/officeDocument/2006/relationships/font" Target="fonts/Urbanist-italic.fntdata"/><Relationship Id="rId24" Type="http://schemas.openxmlformats.org/officeDocument/2006/relationships/font" Target="fonts/Urbanist-boldItalic.fntdata"/><Relationship Id="rId25" Type="http://schemas.openxmlformats.org/officeDocument/2006/relationships/font" Target="fonts/LibreBaskerville-regular.fntdata"/><Relationship Id="rId26" Type="http://schemas.openxmlformats.org/officeDocument/2006/relationships/font" Target="fonts/LibreBaskerville-bold.fntdata"/><Relationship Id="rId27" Type="http://schemas.openxmlformats.org/officeDocument/2006/relationships/font" Target="fonts/LibreBaskerville-italic.fntdata"/><Relationship Id="rId28" Type="http://schemas.openxmlformats.org/officeDocument/2006/relationships/font" Target="fonts/LibreBaskerville-boldItalic.fntdata"/><Relationship Id="rId29" Type="http://schemas.openxmlformats.org/officeDocument/2006/relationships/font" Target="fonts/UbuntuMono-regular.fntdata"/><Relationship Id="rId30" Type="http://schemas.openxmlformats.org/officeDocument/2006/relationships/font" Target="fonts/UbuntuMono-bold.fntdata"/><Relationship Id="rId31" Type="http://schemas.openxmlformats.org/officeDocument/2006/relationships/font" Target="fonts/UbuntuMono-italic.fntdata"/><Relationship Id="rId32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eyFpkQ5I" TargetMode="External"/><Relationship Id="rId5" Type="http://schemas.openxmlformats.org/officeDocument/2006/relationships/hyperlink" Target="https://www.youtube.com/watch?v=Qu7DKe6zZfE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28600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resumo do mês, feito pra você</a:t>
            </a:r>
            <a:endParaRPr lang="en-US" sz="2000" dirty="0"/>
          </a:p>
        </p:txBody>
      </p:sp>
      <p:sp>
        <p:nvSpPr>
          <p:cNvPr id="9" name="Text 1"/>
          <p:cNvSpPr/>
          <p:nvPr/>
        </p:nvSpPr>
        <p:spPr>
          <a:xfrm>
            <a:off x="4267048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Reddit</a:t>
            </a:r>
            <a:endParaRPr lang="en-US" sz="1400" dirty="0"/>
          </a:p>
        </p:txBody>
      </p:sp>
      <p:pic>
        <p:nvPicPr>
          <p:cNvPr id="9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6635" y="2334463"/>
            <a:ext cx="268834" cy="2688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Ultrapassou meio bilhão de usuários semanais; receita publicitária cresceu 64% no 2º tri de 2026.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9178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627778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7778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1400" dirty="0"/>
          </a:p>
        </p:txBody>
      </p:sp>
      <p:pic>
        <p:nvPicPr>
          <p:cNvPr id="14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733" y="2334463"/>
            <a:ext cx="268834" cy="2688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73498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Buscas por IA (Agentic Search) para descobrir produtos cresceram 200% em 1 ano.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8277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7" name="Shape 13"/>
          <p:cNvSpPr/>
          <p:nvPr/>
        </p:nvSpPr>
        <p:spPr>
          <a:xfrm>
            <a:off x="8386877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386877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WhatsApp</a:t>
            </a:r>
            <a:endParaRPr lang="en-US" sz="1400" dirty="0"/>
          </a:p>
        </p:txBody>
      </p:sp>
      <p:pic>
        <p:nvPicPr>
          <p:cNvPr id="19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4832" y="2334463"/>
            <a:ext cx="268834" cy="2688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32597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dos brasileiros já compraram produtos direto pelo app; 77% usam para falar com empresas.</a:t>
            </a:r>
            <a:endParaRPr lang="en-US" sz="1200" dirty="0"/>
          </a:p>
        </p:txBody>
      </p:sp>
      <p:pic>
        <p:nvPicPr>
          <p:cNvPr id="21" name="Image 3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hiper-realid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HIPER-REALIDADE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Online ou offline, o que conta é a experiência.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jovens da Geração Z afirmam que “é tudo real”, sem diferenciar experiências virtuais das físicas.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é a experiência que a marca proporciona, real ou gerada por IA.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client-experiencias-transformador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 TRANSFORMADORAS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Catalisadoras de transformação pessoal.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das pessoas querem vivências significativas; 87% dizem que as melhores experiências são as que as transformam de alguma forma.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mais a marca contribuir para a evolução pessoal do cliente, maior a fidelização.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sport-fand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 SPORT FANDOM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Uma nova geração de fãs redesenha o esporte.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 cada 4 novos fãs de Fórmula 1 são mulheres; o esporte vira território de moda, beleza e lifestyle.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esporte deixou de ser só competição — virou cultura, entretenimento e estilo de vida.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client-sem-ressac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SEM RESSACA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Menos álcool, mais intenção no consumo.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 dos brasileiros declararam não consumir álcool em 2025, contra 55% em 2023.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tirar o álcool do centro da experiência sem tirar a experiência do centro.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@ARPEJO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364328" cy="73152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500" dirty="0"/>
          </a:p>
        </p:txBody>
      </p:sp>
      <p:pic>
        <p:nvPicPr>
          <p:cNvPr id="6" name="Image 1" descr="/home/user/data-manipulation-exercises/.claude/skills/brand-guidelines/assets/texture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901" y="14923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fachadas de comércio em São Paulo e Campinas viram homenagens aos pais que apoiaram o sonho de três empreendedores. Desdobra em pílulas de conteúdo dinâmico nas redes.</a:t>
            </a:r>
            <a:endParaRPr lang="en-US" sz="1250" dirty="0"/>
          </a:p>
        </p:txBody>
      </p:sp>
      <p:sp>
        <p:nvSpPr>
          <p:cNvPr id="8" name="Text 4">
            <a:hlinkClick r:id="rId3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78728" y="1280160"/>
            <a:ext cx="5364328" cy="7315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78728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500" dirty="0"/>
          </a:p>
        </p:txBody>
      </p:sp>
      <p:pic>
        <p:nvPicPr>
          <p:cNvPr id="11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7988" y="149230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78728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circulação: um entrevistador pergunta em que a pessoa se parece com o pai — não fisicamente. Ao terminar de contar, uma palavra se acende no reflexo.</a:t>
            </a:r>
            <a:endParaRPr lang="en-US" sz="1250" dirty="0"/>
          </a:p>
        </p:txBody>
      </p:sp>
      <p:sp>
        <p:nvSpPr>
          <p:cNvPr id="13" name="Text 8">
            <a:hlinkClick r:id="rId5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— inspirações do mês (exclusivo clientes)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Itaú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“IA.i”: nova IA do banco, estética artesanal em película, trocadilho entre “IA.I” e “e aí?” para aproximar a tecnologia das pessoas.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Coca-Cola</a:t>
            </a:r>
            <a:endParaRPr lang="en-US" sz="1300" dirty="0"/>
          </a:p>
        </p:txBody>
      </p:sp>
      <p:pic>
        <p:nvPicPr>
          <p:cNvPr id="11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Mundo Pode Esperar” (Dia dos Pais): convida a família a se desconectar das telas, com filmes, influenciadores e participação numa novela da Globo.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Reserva</a:t>
            </a:r>
            <a:endParaRPr lang="en-US" sz="1300" dirty="0"/>
          </a:p>
        </p:txBody>
      </p:sp>
      <p:pic>
        <p:nvPicPr>
          <p:cNvPr id="16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“Quem cuida, ama” (Dia dos Pais): parceria com Safety 1st, linha de roupas “Tal Pai, Tal Filho”, protagonizada por Rodrigo Santoro.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(continuação)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“Baby Burgers”: simulou um teste de gravidez positivo nas redes para revelar o lançamento de versões menores do Whopper.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Chevrolet + iFood</a:t>
            </a:r>
            <a:endParaRPr lang="en-US" sz="1300" dirty="0"/>
          </a:p>
        </p:txBody>
      </p:sp>
      <p:pic>
        <p:nvPicPr>
          <p:cNvPr id="11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Aproveitou a promessa do iFood de entregar tudo durante a Copa para lançar o Novo Sonic dentro do próprio app de delivery.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16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“King Cheese”: brinca com o ditado “mineiro come quieto”, com desconto ativado por frase-senha no drive-thru.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INDICAÇÕES ARPEJERS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Leituras recomendadas pelo time este mês: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Slow-living como status de luxo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“O perigo de estar lúcida” — Rosa Monteiro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FONTES →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029200" y="1280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Remio — Reddit supera previsões de receita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Opinion Box — Pesquisa WhatsApp no Brasil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Sales Force — Shopping's New First Step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LinkedIn — How to Maximize AI Visibility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Estadão — Menos álcool nas mesas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8" y="2697480"/>
            <a:ext cx="3657600" cy="109640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352648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até o mês que vem.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2026-08-10T18:35:47Z</dcterms:created>
  <dcterms:modified xsi:type="dcterms:W3CDTF">2026-08-10T18:35:47Z</dcterms:modified>
</cp:coreProperties>
</file>