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ContentType="application/x-fontdata" Extension="f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embeddedFontLst>
    <p:embeddedFont>
      <p:font typeface="JetBrains Mono Medium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  <p:embeddedFont>
      <p:font typeface="Libre Baskerville"/>
      <p:regular r:id="rId24"/>
      <p:bold r:id="rId25"/>
      <p:italic r:id="rId26"/>
      <p:boldItalic r:id="rId27"/>
    </p:embeddedFont>
    <p:embeddedFont>
      <p:font typeface="Ubuntu Mono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JetBrainsMonoMedium-regular.fntdata"/><Relationship Id="rId17" Type="http://schemas.openxmlformats.org/officeDocument/2006/relationships/font" Target="fonts/JetBrainsMonoMedium-bold.fntdata"/><Relationship Id="rId18" Type="http://schemas.openxmlformats.org/officeDocument/2006/relationships/font" Target="fonts/JetBrainsMonoMedium-italic.fntdata"/><Relationship Id="rId19" Type="http://schemas.openxmlformats.org/officeDocument/2006/relationships/font" Target="fonts/JetBrainsMonoMedium-boldItalic.fntdata"/><Relationship Id="rId20" Type="http://schemas.openxmlformats.org/officeDocument/2006/relationships/font" Target="fonts/Urbanist-regular.fntdata"/><Relationship Id="rId21" Type="http://schemas.openxmlformats.org/officeDocument/2006/relationships/font" Target="fonts/Urbanist-bold.fntdata"/><Relationship Id="rId22" Type="http://schemas.openxmlformats.org/officeDocument/2006/relationships/font" Target="fonts/Urbanist-italic.fntdata"/><Relationship Id="rId23" Type="http://schemas.openxmlformats.org/officeDocument/2006/relationships/font" Target="fonts/Urbanist-boldItalic.fntdata"/><Relationship Id="rId24" Type="http://schemas.openxmlformats.org/officeDocument/2006/relationships/font" Target="fonts/LibreBaskerville-regular.fntdata"/><Relationship Id="rId25" Type="http://schemas.openxmlformats.org/officeDocument/2006/relationships/font" Target="fonts/LibreBaskerville-bold.fntdata"/><Relationship Id="rId26" Type="http://schemas.openxmlformats.org/officeDocument/2006/relationships/font" Target="fonts/LibreBaskerville-italic.fntdata"/><Relationship Id="rId27" Type="http://schemas.openxmlformats.org/officeDocument/2006/relationships/font" Target="fonts/LibreBaskerville-boldItalic.fntdata"/><Relationship Id="rId28" Type="http://schemas.openxmlformats.org/officeDocument/2006/relationships/font" Target="fonts/UbuntuMono-regular.fntdata"/><Relationship Id="rId29" Type="http://schemas.openxmlformats.org/officeDocument/2006/relationships/font" Target="fonts/UbuntuMono-bold.fntdata"/><Relationship Id="rId30" Type="http://schemas.openxmlformats.org/officeDocument/2006/relationships/font" Target="fonts/UbuntuMono-italic.fntdata"/><Relationship Id="rId31" Type="http://schemas.openxmlformats.org/officeDocument/2006/relationships/font" Target="fonts/UbuntuMono-boldItalic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pF-eyFpkQ5I" TargetMode="External"/><Relationship Id="rId2" Type="http://schemas.openxmlformats.org/officeDocument/2006/relationships/hyperlink" Target="https://www.youtube.com/watch?v=Qu7DKe6zZf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pic>
        <p:nvPicPr>
          <p:cNvPr id="42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502920"/>
            <a:ext cx="457200" cy="457200"/>
          </a:xfrm>
          <a:prstGeom prst="rect">
            <a:avLst/>
          </a:prstGeom>
        </p:spPr>
      </p:pic>
      <p:pic>
        <p:nvPicPr>
          <p:cNvPr id="43" name="Image 1" descr="/home/user/data-manipulation-exercises/.claude/skills/arpejo-report-desdobramento/assets/arpejo-report-logo-all-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8" y="2286000"/>
            <a:ext cx="4754880" cy="142532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2895448" y="5486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Prospecção _ Agibank _ agosto_26</a:t>
            </a:r>
            <a:endParaRPr lang="en-US" sz="1400" dirty="0"/>
          </a:p>
        </p:txBody>
      </p:sp>
      <p:pic>
        <p:nvPicPr>
          <p:cNvPr id="45" name="Image 2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598932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mercado não para de mudar.</a:t>
            </a:r>
            <a:endParaRPr lang="en-US" sz="2800" dirty="0"/>
          </a:p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sua marca está lendo isso em tempo real?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crescimento nas buscas por IA para descobrir produtos em 1 ano.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3018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43018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jovens da Geração Z já não diferenciam experiências reais das virtuais.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8757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3077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63077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brasileiros declararam não consumir álcool em 2025 — e ainda assim, saem.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Salesforce, Opinion Box, Estadão — .report agosto_26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PROSPECÇÃO — AGIBANK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mercado de bancos digitais e crédito, agora.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48640" y="196596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211226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consignado do aposentado agora é lei digital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353940" y="20939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Lei 15.179/25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22960" y="253288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operação de crédito consignado passa a ser feita por plataforma digital, com reconhecimento facial exigido pelo INSS contra fraudes — o público 60+ está sendo empurrado pro digital agora. Fonte: Lei 15.179/2025.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352044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366674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 digital perde a confiança do INSS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353940" y="36484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R$300 mi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22960" y="408736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2026 o INSS suspendeu novas concessões de consignado do C6 Bank por irregularidades em contratos com aposentados, obrigando devolução de R$300 milhões — espaço pra quem oferece atendimento humano de verdade. Fonte: Seu Dinheiro, CNBC Brasil.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07492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22122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phygital está validado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5353940" y="52029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+73%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22960" y="564184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Agibank fechou 2025 com lucro de R$1,05-1,1 bi (+31,8%), carteira de crédito +54,3% e 6,7 milhões de clientes ativos (+73%), sustentados por cerca de 1.100 smart hubs físicos. Fonte: Agibank, Finsiders Brasil.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137020" y="1965960"/>
            <a:ext cx="4506035" cy="4434840"/>
          </a:xfrm>
          <a:prstGeom prst="roundRect">
            <a:avLst>
              <a:gd name="adj" fmla="val 3299"/>
            </a:avLst>
          </a:prstGeom>
          <a:solidFill>
            <a:srgbClr val="FF7C51"/>
          </a:solidFill>
          <a:ln/>
        </p:spPr>
      </p:sp>
      <p:sp>
        <p:nvSpPr>
          <p:cNvPr id="57" name="Text 55"/>
          <p:cNvSpPr/>
          <p:nvPr/>
        </p:nvSpPr>
        <p:spPr>
          <a:xfrm>
            <a:off x="7457060" y="2331720"/>
            <a:ext cx="38659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“Para o Agibank”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7457060" y="3337560"/>
            <a:ext cx="386595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 momento em que um concorrente 100% digital perde a confiança do INSS e o público 50+/aposentados é obrigado por lei a migrar pro digital, o Agibank já tem a prova que faltava: resultados recordes sustentados por um modelo que soma app e atendimento humano nos smart hubs. A oportunidade é transformar a crise de confiança da concorrência em uma campanha de educação sobre as novas regras do consignado digital, com o Agibank como a opção segura e humana.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7C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4884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6676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pic>
        <p:nvPicPr>
          <p:cNvPr id="8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08076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1148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731520"/>
            <a:ext cx="465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FF7C5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AGENTIC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22960" y="1188720"/>
            <a:ext cx="4842534" cy="502920"/>
          </a:xfrm>
          <a:prstGeom prst="ellipse">
            <a:avLst/>
          </a:prstGeom>
          <a:ln w="19050">
            <a:solidFill>
              <a:srgbClr val="FF7C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188720"/>
            <a:ext cx="4842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7C5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SEARCH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" y="2011680"/>
            <a:ext cx="4659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marca já apareceu numa resposta de IA hoje?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2880360"/>
            <a:ext cx="46596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uso de buscas por IA como primeiro passo para descobrir produtos cresceu 200% em um ano. Em vez de pesquisar no Google, consumidores estão começando a jornada de compra dentro de uma conversa com um assistente de IA.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dos líderes de e-commerce dizem que a IA já elevou a expectativa dos consumidores — mas só 28% das marcas já usam IA agentiva. A adoção ainda está atrás do comportamento.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" y="5257800"/>
            <a:ext cx="465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C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Buscas por IA para descobrir produtos cresceram 200% em 1 ano.</a:t>
            </a:r>
            <a:endParaRPr lang="en-US" sz="1000" dirty="0"/>
          </a:p>
        </p:txBody>
      </p:sp>
      <p:pic>
        <p:nvPicPr>
          <p:cNvPr id="16" name="Image 1" descr="/tmp/claude-0/-home-user-data-manipulation-exercises/f19acac8-ccb4-5197-8e49-c3b6029ad477/scratchpad/report-images/final/ig-agentic-search.jpg">    </p:cNvPr>
          <p:cNvPicPr>
            <a:picLocks noChangeAspect="1"/>
          </p:cNvPicPr>
          <p:nvPr/>
        </p:nvPicPr>
        <p:blipFill>
          <a:blip r:embed="rId2"/>
          <a:srcRect l="15170" r="15170" t="0" b="0"/>
          <a:stretch/>
        </p:blipFill>
        <p:spPr>
          <a:xfrm>
            <a:off x="6031254" y="685800"/>
            <a:ext cx="529176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4884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6676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pic>
        <p:nvPicPr>
          <p:cNvPr id="8" name="Image 0" descr="/home/user/data-manipulation-exercises/.claude/skills/brand-guidelines/assets/textures/globe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45720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09728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617641" y="1417320"/>
            <a:ext cx="465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HIPER-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526201" y="1874520"/>
            <a:ext cx="4842534" cy="50292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26201" y="1874520"/>
            <a:ext cx="4842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REALIDADE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17641" y="2697480"/>
            <a:ext cx="4659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ou offline? Pra Geração Z, já não faz diferença.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17641" y="3566160"/>
            <a:ext cx="46596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cultura digital deixou de existir só nas telas e passou a moldar a vida real. A fronteira entre o que é online e offline está desaparecendo, especialmente pra Geração Z.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do que distinguir o que é real ou gerado por IA, o que passa a importar pras marcas é a experiência que elas proporcionam — em qualquer um dos dois lados.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7641" y="5943600"/>
            <a:ext cx="465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40% dos jovens dizem que “é tudo real”, sem diferenciar o virtual do físico.</a:t>
            </a:r>
            <a:endParaRPr lang="en-US" sz="1000" dirty="0"/>
          </a:p>
        </p:txBody>
      </p:sp>
      <p:pic>
        <p:nvPicPr>
          <p:cNvPr id="16" name="Image 1" descr="/tmp/claude-0/-home-user-data-manipulation-exercises/f19acac8-ccb4-5197-8e49-c3b6029ad477/scratchpad/report-images/final/prospect-hiper-realidade.jpg">    </p:cNvPr>
          <p:cNvPicPr>
            <a:picLocks noChangeAspect="1"/>
          </p:cNvPicPr>
          <p:nvPr/>
        </p:nvPicPr>
        <p:blipFill>
          <a:blip r:embed="rId2"/>
          <a:srcRect l="3113" r="3113" t="0" b="0"/>
          <a:stretch/>
        </p:blipFill>
        <p:spPr>
          <a:xfrm>
            <a:off x="868680" y="1371600"/>
            <a:ext cx="529176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QUEM É A ARPEJO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100584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“A técnica constrói.</a:t>
            </a:r>
            <a:endParaRPr lang="en-US" sz="3200" dirty="0"/>
          </a:p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improviso desconstrói.”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548640" y="2880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uma agência de publicidade que, através da técnica, estudo e planejamento, constrói direcionais sólidos para então desconstruí-los através de soluções de comunicação fortes e verdadeiras.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4572000"/>
            <a:ext cx="6858000" cy="173736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4800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“Good skills. Gold feeling.”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8680" y="53949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Acreditamos que o feeling não é o acaso, mas uma combinação de experiências, conhecimento, técnica aguçada e intuição.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51215" y="2880360"/>
            <a:ext cx="3291840" cy="3429000"/>
          </a:xfrm>
          <a:prstGeom prst="roundRect">
            <a:avLst>
              <a:gd name="adj" fmla="val 4444"/>
            </a:avLst>
          </a:prstGeom>
          <a:solidFill>
            <a:srgbClr val="DAFF94"/>
          </a:solidFill>
          <a:ln/>
        </p:spPr>
      </p:sp>
      <p:sp>
        <p:nvSpPr>
          <p:cNvPr id="49" name="Text 47"/>
          <p:cNvSpPr/>
          <p:nvPr/>
        </p:nvSpPr>
        <p:spPr>
          <a:xfrm>
            <a:off x="8625535" y="3200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150+</a:t>
            </a:r>
            <a:endParaRPr lang="en-US" sz="5600" dirty="0"/>
          </a:p>
        </p:txBody>
      </p:sp>
      <p:sp>
        <p:nvSpPr>
          <p:cNvPr id="50" name="Text 48"/>
          <p:cNvSpPr/>
          <p:nvPr/>
        </p:nvSpPr>
        <p:spPr>
          <a:xfrm>
            <a:off x="8625535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prêmios e reconhecimentos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25535" y="4983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Agência do Ano APP Campinas · Festival do Clube de Criação · Profissionais do Ano Rede Globo · FEPI · Mídia Festival APP Campinas · FestVídeo APP Ribeirão Preto · FestDigital · FestGraf APP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PROVA — O QUE FIZEMOS ESSE MÊS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1188720"/>
            <a:ext cx="5364328" cy="6858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1188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PagueVeloz — Dia dos Pais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219456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nome por trás do meu nome”: transformamos fachadas de comércio em homenagens aos pais que apoiaram o sonho de três empreendedores em São Paulo e Campinas.</a:t>
            </a:r>
            <a:endParaRPr lang="en-US" sz="1300" dirty="0"/>
          </a:p>
        </p:txBody>
      </p:sp>
      <p:sp>
        <p:nvSpPr>
          <p:cNvPr id="46" name="Text 44">
            <a:hlinkClick r:id="rId1" tooltip=""/>
          </p:cNvPr>
          <p:cNvSpPr/>
          <p:nvPr/>
        </p:nvSpPr>
        <p:spPr>
          <a:xfrm>
            <a:off x="548640" y="45720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assistir ao case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78728" y="1188720"/>
            <a:ext cx="5364328" cy="68580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8728" y="1188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Grupo Equatorial — Dia dos Pais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278728" y="219456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Espelhos apagados em locais de grande circulação só acendem uma palavra quando a pessoa termina de contar o que herdou do pai — não na aparência, na atitude.</a:t>
            </a:r>
            <a:endParaRPr lang="en-US" sz="1300" dirty="0"/>
          </a:p>
        </p:txBody>
      </p:sp>
      <p:sp>
        <p:nvSpPr>
          <p:cNvPr id="50" name="Text 48">
            <a:hlinkClick r:id="rId2" tooltip=""/>
          </p:cNvPr>
          <p:cNvSpPr/>
          <p:nvPr/>
        </p:nvSpPr>
        <p:spPr>
          <a:xfrm>
            <a:off x="6278728" y="45720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assistir ao case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Campanhas de Dia dos Pais assinadas pela Arpejo em agosto/26.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4572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report↗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1094415" cy="5257800"/>
          </a:xfrm>
          <a:prstGeom prst="roundRect">
            <a:avLst>
              <a:gd name="adj" fmla="val 3478"/>
            </a:avLst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1508760"/>
            <a:ext cx="5090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nosso diferencial: inteligência de mercado, todo mês.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2971800"/>
            <a:ext cx="50900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que você viu até agora — leitura de tendências de consumo, novidades de plataformas e cases que inspiram — é o nosso .report: um relatório proprietário que produzimos todo mês pra orientar as decisões dos nossos clientes.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fecha com a Arpejo não recebe só campanha. Recebe visão de mercado aplicada, com frequência mensal.</a:t>
            </a:r>
            <a:endParaRPr lang="en-US" sz="1350" dirty="0"/>
          </a:p>
        </p:txBody>
      </p:sp>
      <p:pic>
        <p:nvPicPr>
          <p:cNvPr id="7" name="Image 1" descr="/tmp/claude-0/-home-user-data-manipulation-exercises/f19acac8-ccb4-5197-8e49-c3b6029ad477/scratchpad/report-images/final/prospect-diferencial.jpg">    </p:cNvPr>
          <p:cNvPicPr>
            <a:picLocks noChangeAspect="1"/>
          </p:cNvPicPr>
          <p:nvPr/>
        </p:nvPicPr>
        <p:blipFill>
          <a:blip r:embed="rId2"/>
          <a:srcRect l="15127" r="15127" t="0" b="0"/>
          <a:stretch/>
        </p:blipFill>
        <p:spPr>
          <a:xfrm>
            <a:off x="6461608" y="1463040"/>
            <a:ext cx="4861408" cy="4617720"/>
          </a:xfrm>
          <a:prstGeom prst="rect">
            <a:avLst/>
          </a:prstGeom>
        </p:spPr>
      </p:pic>
      <p:pic>
        <p:nvPicPr>
          <p:cNvPr id="8" name="Image 2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277295" y="59436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pic>
        <p:nvPicPr>
          <p:cNvPr id="42" name="Image 0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320040" y="320040"/>
            <a:ext cx="292608" cy="292608"/>
          </a:xfrm>
          <a:prstGeom prst="rect">
            <a:avLst/>
          </a:prstGeom>
        </p:spPr>
      </p:pic>
      <p:pic>
        <p:nvPicPr>
          <p:cNvPr id="43" name="Image 1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047" y="320040"/>
            <a:ext cx="292608" cy="292608"/>
          </a:xfrm>
          <a:prstGeom prst="rect">
            <a:avLst/>
          </a:prstGeom>
        </p:spPr>
      </p:pic>
      <p:pic>
        <p:nvPicPr>
          <p:cNvPr id="44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20040" y="6245352"/>
            <a:ext cx="292608" cy="292608"/>
          </a:xfrm>
          <a:prstGeom prst="rect">
            <a:avLst/>
          </a:prstGeom>
        </p:spPr>
      </p:pic>
      <p:pic>
        <p:nvPicPr>
          <p:cNvPr id="45" name="Image 3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579047" y="6245352"/>
            <a:ext cx="292608" cy="29260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Vamos conversar sobre o que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crise de confiança no consignado digital significa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pra Agibank?</a:t>
            </a:r>
            <a:endParaRPr lang="en-US" sz="3000" dirty="0"/>
          </a:p>
        </p:txBody>
      </p:sp>
      <p:sp>
        <p:nvSpPr>
          <p:cNvPr id="47" name="Text 41"/>
          <p:cNvSpPr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fala com a gente → @arpejo</a:t>
            </a:r>
            <a:endParaRPr lang="en-US" sz="1300" dirty="0"/>
          </a:p>
        </p:txBody>
      </p:sp>
      <p:pic>
        <p:nvPicPr>
          <p:cNvPr id="48" name="Image 4" descr="/home/user/data-manipulation-exercises/.claude/skills/arpejo-report-desdobramento/assets/arpejo-report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69280"/>
            <a:ext cx="2194560" cy="657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2026-08-18T13:06:57Z</dcterms:created>
  <dcterms:modified xsi:type="dcterms:W3CDTF">2026-08-18T13:06:57Z</dcterms:modified>
</cp:coreProperties>
</file>