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JetBrains Mono Medium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Libre Baskerville"/>
      <p:regular r:id="rId24"/>
      <p:bold r:id="rId25"/>
      <p:italic r:id="rId26"/>
      <p:boldItalic r:id="rId27"/>
    </p:embeddedFont>
    <p:embeddedFont>
      <p:font typeface="Ubuntu Mono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JetBrainsMonoMedium-regular.fntdata"/><Relationship Id="rId17" Type="http://schemas.openxmlformats.org/officeDocument/2006/relationships/font" Target="fonts/JetBrainsMonoMedium-bold.fntdata"/><Relationship Id="rId18" Type="http://schemas.openxmlformats.org/officeDocument/2006/relationships/font" Target="fonts/JetBrainsMonoMedium-italic.fntdata"/><Relationship Id="rId19" Type="http://schemas.openxmlformats.org/officeDocument/2006/relationships/font" Target="fonts/JetBrainsMonoMedium-boldItalic.fntdata"/><Relationship Id="rId20" Type="http://schemas.openxmlformats.org/officeDocument/2006/relationships/font" Target="fonts/Urbanist-regular.fntdata"/><Relationship Id="rId21" Type="http://schemas.openxmlformats.org/officeDocument/2006/relationships/font" Target="fonts/Urbanist-bold.fntdata"/><Relationship Id="rId22" Type="http://schemas.openxmlformats.org/officeDocument/2006/relationships/font" Target="fonts/Urbanist-italic.fntdata"/><Relationship Id="rId23" Type="http://schemas.openxmlformats.org/officeDocument/2006/relationships/font" Target="fonts/Urbanist-boldItalic.fntdata"/><Relationship Id="rId24" Type="http://schemas.openxmlformats.org/officeDocument/2006/relationships/font" Target="fonts/LibreBaskerville-regular.fntdata"/><Relationship Id="rId25" Type="http://schemas.openxmlformats.org/officeDocument/2006/relationships/font" Target="fonts/LibreBaskerville-bold.fntdata"/><Relationship Id="rId26" Type="http://schemas.openxmlformats.org/officeDocument/2006/relationships/font" Target="fonts/LibreBaskerville-italic.fntdata"/><Relationship Id="rId27" Type="http://schemas.openxmlformats.org/officeDocument/2006/relationships/font" Target="fonts/LibreBaskerville-boldItalic.fntdata"/><Relationship Id="rId28" Type="http://schemas.openxmlformats.org/officeDocument/2006/relationships/font" Target="fonts/UbuntuMono-regular.fntdata"/><Relationship Id="rId29" Type="http://schemas.openxmlformats.org/officeDocument/2006/relationships/font" Target="fonts/UbuntuMono-bold.fntdata"/><Relationship Id="rId30" Type="http://schemas.openxmlformats.org/officeDocument/2006/relationships/font" Target="fonts/UbuntuMono-italic.fntdata"/><Relationship Id="rId31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F-eyFpkQ5I" TargetMode="External"/><Relationship Id="rId2" Type="http://schemas.openxmlformats.org/officeDocument/2006/relationships/hyperlink" Target="https://www.youtube.com/watch?v=Qu7DKe6zZ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pic>
        <p:nvPicPr>
          <p:cNvPr id="43" name="Image 1" descr="/home/user/data-manipulation-exercises/.claude/skills/arpejo-report-desdobramento/assets/arpejo-report-logo-all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286000"/>
            <a:ext cx="4754880" cy="14253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895448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_ Toyota _ agosto_26</a:t>
            </a:r>
            <a:endParaRPr lang="en-US" sz="1400" dirty="0"/>
          </a:p>
        </p:txBody>
      </p:sp>
      <p:pic>
        <p:nvPicPr>
          <p:cNvPr id="45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59893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não para de mudar.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sua marca está lendo isso em tempo real?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 nas buscas por IA para descobrir produtos em 1 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3018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jovens da Geração Z já não diferenciam experiências reais das virtuais.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63077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brasileiros declararam não consumir álcool em 2025 — e ainda assim, saem.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Salesforce, Opinion Box, Estadão — .report agosto_26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— TOYOTA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de mobilidade e automotivo, agora.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48640" y="196596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11226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Híbridos aceleram, chinesas tomam a dianteira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53940" y="20939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+85%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2960" y="253288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de híbridos saltaram 85% no 1º semestre de 2026 vs. 2025 — mas no ranking de híbridos mais vendidos, quem lidera são a GWM Haval H6 e a BYD Song Pro, à frente do Corolla Cross Hybrid. Fonte: ABVE, CNN Brasil.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352044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66674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já é tomada antes da loja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353940" y="3648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90%+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22960" y="408736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90% dos brasileiros pesquisam na internet antes de comprar um carro, e 87% já chegam à loja com preço, avaliações e histórico do veículo levantados. Fonte: Fenabrave, Auto Avaliar.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07492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22122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de compra já passa pela IA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353940" y="52029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57%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564184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dos consumidores brasileiros já usam ferramentas de IA para comparar modelos, specs e custo de manutenção na compra de um carro. Fonte: Google, apresentado no Anfavea Visions 2026.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37020" y="1965960"/>
            <a:ext cx="4506035" cy="4434840"/>
          </a:xfrm>
          <a:prstGeom prst="roundRect">
            <a:avLst>
              <a:gd name="adj" fmla="val 3299"/>
            </a:avLst>
          </a:prstGeom>
          <a:solidFill>
            <a:srgbClr val="FF7C51"/>
          </a:solidFill>
          <a:ln/>
        </p:spPr>
      </p:sp>
      <p:sp>
        <p:nvSpPr>
          <p:cNvPr id="57" name="Text 55"/>
          <p:cNvSpPr/>
          <p:nvPr/>
        </p:nvSpPr>
        <p:spPr>
          <a:xfrm>
            <a:off x="7457060" y="2331720"/>
            <a:ext cx="38659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“Para a Toyota”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457060" y="3337560"/>
            <a:ext cx="386595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Toyota segue líder em vendas gerais no Brasil, mas no território que ela mesma abriu — o híbrido — quem cresce mais rápido em marketing digital são as chinesas. A decisão de compra hoje se forma antes do showroom, dentro de uma pesquisa online e, cada vez mais, dentro de uma resposta de IA. Defender a liderança em eletrificação passa por disputar esse território de descoberta digital com a mesma agressividade da concorrência.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080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315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1188720"/>
            <a:ext cx="4842534" cy="502920"/>
          </a:xfrm>
          <a:prstGeom prst="ellipse">
            <a:avLst/>
          </a:prstGeom>
          <a:ln w="19050">
            <a:solidFill>
              <a:srgbClr val="FF7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1887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buscas por IA como primeiro passo para descobrir produtos cresceu 200% em um ano. Em vez de pesquisar no Google, consumidores estão começando a jornada de compra dentro de uma conversa com um assistente de 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dos líderes de e-commerce dizem que a IA já elevou a expectativa dos consumidores — mas só 28% das marcas já usam IA agentiva. A adoção ainda está atrás do comportamento.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2578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C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ig-agentic-search.jpg">    </p:cNvPr>
          <p:cNvPicPr>
            <a:picLocks noChangeAspect="1"/>
          </p:cNvPicPr>
          <p:nvPr/>
        </p:nvPicPr>
        <p:blipFill>
          <a:blip r:embed="rId2"/>
          <a:srcRect l="15170" r="15170" t="0" b="0"/>
          <a:stretch/>
        </p:blipFill>
        <p:spPr>
          <a:xfrm>
            <a:off x="6031254" y="6858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0972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617641" y="14173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26201" y="1874520"/>
            <a:ext cx="4842534" cy="50292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6201" y="18745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17641" y="26974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7641" y="35661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cultura digital deixou de existir só nas telas e passou a moldar a vida real. A fronteira entre o que é online e offline está desaparecendo, especialmente pra Geração Z.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distinguir o que é real ou gerado por IA, o que passa a importar pras marcas é a experiência que elas proporcionam — em qualquer um dos dois lados.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7641" y="59436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prospect-hiper-realidade.jpg">    </p:cNvPr>
          <p:cNvPicPr>
            <a:picLocks noChangeAspect="1"/>
          </p:cNvPicPr>
          <p:nvPr/>
        </p:nvPicPr>
        <p:blipFill>
          <a:blip r:embed="rId2"/>
          <a:srcRect l="3113" r="3113" t="0" b="0"/>
          <a:stretch/>
        </p:blipFill>
        <p:spPr>
          <a:xfrm>
            <a:off x="868680" y="13716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É A ARPEJO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“A técnica constrói.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improviso desconstrói.”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4864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agência de publicidade que, através da técnica, estudo e planejamento, constrói direcionais sólidos para então desconstruí-los através de soluções de comunicação fortes e verdadeiras.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6858000" cy="173736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“Good skills. Gold feeling.”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394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Acreditamos que o feeling não é o acaso, mas uma combinação de experiências, conhecimento, técnica aguçada e intuição.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51215" y="2880360"/>
            <a:ext cx="3291840" cy="3429000"/>
          </a:xfrm>
          <a:prstGeom prst="roundRect">
            <a:avLst>
              <a:gd name="adj" fmla="val 4444"/>
            </a:avLst>
          </a:prstGeom>
          <a:solidFill>
            <a:srgbClr val="DAFF94"/>
          </a:solidFill>
          <a:ln/>
        </p:spPr>
      </p:sp>
      <p:sp>
        <p:nvSpPr>
          <p:cNvPr id="49" name="Text 47"/>
          <p:cNvSpPr/>
          <p:nvPr/>
        </p:nvSpPr>
        <p:spPr>
          <a:xfrm>
            <a:off x="8625535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150+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8625535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 e reconhecimentos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25535" y="4983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Agência do Ano APP Campinas · Festival do Clube de Criação · Profissionais do Ano Rede Globo · FEPI · Mídia Festival APP Campinas · FestVídeo APP Ribeirão Preto · FestDigital · FestGraf APP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 — O QUE FIZEMOS ESSE MÊS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1188720"/>
            <a:ext cx="5364328" cy="6858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PagueVeloz — Dia dos Pais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nome por trás do meu nome”: transformamos fachadas de comércio em homenagens aos pais que apoiaram o sonho de três empreendedores em São Paulo e Campinas.</a:t>
            </a:r>
            <a:endParaRPr lang="en-US" sz="13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48640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8728" y="1188720"/>
            <a:ext cx="5364328" cy="68580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8728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Grupo Equatorial — Dia dos Pais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8728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Espelhos apagados em locais de grande circulação só acendem uma palavra quando a pessoa termina de contar o que herdou do pai — não na aparência, na atitude.</a:t>
            </a:r>
            <a:endParaRPr lang="en-US" sz="13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6278728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Campanhas de Dia dos Pais assinadas pela Arpejo em agosto/26.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94415" cy="525780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08760"/>
            <a:ext cx="509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nosso diferencial: inteligência de mercado, todo mês.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2971800"/>
            <a:ext cx="5090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que você viu até agora — leitura de tendências de consumo, novidades de plataformas e cases que inspiram — é o nosso .report: um relatório proprietário que produzimos todo mês pra orientar as decisões dos nossos clientes.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fecha com a Arpejo não recebe só campanha. Recebe visão de mercado aplicada, com frequência mensal.</a:t>
            </a:r>
            <a:endParaRPr lang="en-US" sz="1350" dirty="0"/>
          </a:p>
        </p:txBody>
      </p:sp>
      <p:pic>
        <p:nvPicPr>
          <p:cNvPr id="7" name="Image 1" descr="/tmp/claude-0/-home-user-data-manipulation-exercises/f19acac8-ccb4-5197-8e49-c3b6029ad477/scratchpad/report-images/final/prospect-diferencial.jpg">    </p:cNvPr>
          <p:cNvPicPr>
            <a:picLocks noChangeAspect="1"/>
          </p:cNvPicPr>
          <p:nvPr/>
        </p:nvPicPr>
        <p:blipFill>
          <a:blip r:embed="rId2"/>
          <a:srcRect l="15127" r="15127" t="0" b="0"/>
          <a:stretch/>
        </p:blipFill>
        <p:spPr>
          <a:xfrm>
            <a:off x="6461608" y="1463040"/>
            <a:ext cx="4861408" cy="4617720"/>
          </a:xfrm>
          <a:prstGeom prst="rect">
            <a:avLst/>
          </a:prstGeom>
        </p:spPr>
      </p:pic>
      <p:pic>
        <p:nvPicPr>
          <p:cNvPr id="8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277295" y="59436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43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047" y="320040"/>
            <a:ext cx="292608" cy="292608"/>
          </a:xfrm>
          <a:prstGeom prst="rect">
            <a:avLst/>
          </a:prstGeom>
        </p:spPr>
      </p:pic>
      <p:pic>
        <p:nvPicPr>
          <p:cNvPr id="44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6245352"/>
            <a:ext cx="292608" cy="292608"/>
          </a:xfrm>
          <a:prstGeom prst="rect">
            <a:avLst/>
          </a:prstGeom>
        </p:spPr>
      </p:pic>
      <p:pic>
        <p:nvPicPr>
          <p:cNvPr id="45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79047" y="6245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Vamos conversar sobre 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essa disputa por híbridos na internet significa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 Toyota?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300" dirty="0"/>
          </a:p>
        </p:txBody>
      </p:sp>
      <p:pic>
        <p:nvPicPr>
          <p:cNvPr id="48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2194560" cy="65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2026-08-18T13:06:56Z</dcterms:created>
  <dcterms:modified xsi:type="dcterms:W3CDTF">2026-08-18T13:06:56Z</dcterms:modified>
</cp:coreProperties>
</file>