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ContentType="application/x-fontdata" Extension="f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JetBrains Mono Medium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Libre Baskerville"/>
      <p:regular r:id="rId23"/>
      <p:bold r:id="rId24"/>
      <p:italic r:id="rId25"/>
      <p:boldItalic r:id="rId26"/>
    </p:embeddedFont>
    <p:embeddedFont>
      <p:font typeface="Ubuntu Mono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JetBrainsMonoMedium-regular.fntdata"/><Relationship Id="rId16" Type="http://schemas.openxmlformats.org/officeDocument/2006/relationships/font" Target="fonts/JetBrainsMonoMedium-bold.fntdata"/><Relationship Id="rId17" Type="http://schemas.openxmlformats.org/officeDocument/2006/relationships/font" Target="fonts/JetBrainsMonoMedium-italic.fntdata"/><Relationship Id="rId18" Type="http://schemas.openxmlformats.org/officeDocument/2006/relationships/font" Target="fonts/JetBrainsMonoMedium-boldItalic.fntdata"/><Relationship Id="rId19" Type="http://schemas.openxmlformats.org/officeDocument/2006/relationships/font" Target="fonts/Urbanist-regular.fntdata"/><Relationship Id="rId20" Type="http://schemas.openxmlformats.org/officeDocument/2006/relationships/font" Target="fonts/Urbanist-bold.fntdata"/><Relationship Id="rId21" Type="http://schemas.openxmlformats.org/officeDocument/2006/relationships/font" Target="fonts/Urbanist-italic.fntdata"/><Relationship Id="rId22" Type="http://schemas.openxmlformats.org/officeDocument/2006/relationships/font" Target="fonts/Urbanist-boldItalic.fntdata"/><Relationship Id="rId23" Type="http://schemas.openxmlformats.org/officeDocument/2006/relationships/font" Target="fonts/LibreBaskerville-regular.fntdata"/><Relationship Id="rId24" Type="http://schemas.openxmlformats.org/officeDocument/2006/relationships/font" Target="fonts/LibreBaskerville-bold.fntdata"/><Relationship Id="rId25" Type="http://schemas.openxmlformats.org/officeDocument/2006/relationships/font" Target="fonts/LibreBaskerville-italic.fntdata"/><Relationship Id="rId26" Type="http://schemas.openxmlformats.org/officeDocument/2006/relationships/font" Target="fonts/LibreBaskerville-boldItalic.fntdata"/><Relationship Id="rId27" Type="http://schemas.openxmlformats.org/officeDocument/2006/relationships/font" Target="fonts/UbuntuMono-regular.fntdata"/><Relationship Id="rId28" Type="http://schemas.openxmlformats.org/officeDocument/2006/relationships/font" Target="fonts/UbuntuMono-bold.fntdata"/><Relationship Id="rId29" Type="http://schemas.openxmlformats.org/officeDocument/2006/relationships/font" Target="fonts/UbuntuMono-italic.fntdata"/><Relationship Id="rId30" Type="http://schemas.openxmlformats.org/officeDocument/2006/relationships/font" Target="fonts/UbuntuMon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pF-eyFpkQ5I" TargetMode="External"/><Relationship Id="rId2" Type="http://schemas.openxmlformats.org/officeDocument/2006/relationships/hyperlink" Target="https://www.youtube.com/watch?v=Qu7DKe6zZf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02920"/>
            <a:ext cx="457200" cy="457200"/>
          </a:xfrm>
          <a:prstGeom prst="rect">
            <a:avLst/>
          </a:prstGeom>
        </p:spPr>
      </p:pic>
      <p:pic>
        <p:nvPicPr>
          <p:cNvPr id="43" name="Image 1" descr="/home/user/data-manipulation-exercises/.claude/skills/arpejo-report-desdobramento/assets/arpejo-report-logo-all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286000"/>
            <a:ext cx="4754880" cy="142532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3352648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_ agosto_26</a:t>
            </a:r>
            <a:endParaRPr lang="en-US" sz="1400" dirty="0"/>
          </a:p>
        </p:txBody>
      </p:sp>
      <p:pic>
        <p:nvPicPr>
          <p:cNvPr id="45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59893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não para de mudar.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sua marca está lendo isso em tempo real?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 nas buscas por IA para descobrir produtos em 1 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3018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jovens da Geração Z já não diferenciam experiências reais das virtuais.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8757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63077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brasileiros declararam não consumir álcool em 2025 — e ainda assim, saem.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Salesforce, Opinion Box, Estadão — .report agosto_26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0807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14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7315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AGENTIC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1188720"/>
            <a:ext cx="4842534" cy="502920"/>
          </a:xfrm>
          <a:prstGeom prst="ellipse">
            <a:avLst/>
          </a:prstGeom>
          <a:ln w="19050">
            <a:solidFill>
              <a:srgbClr val="FF7C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1887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 já apareceu numa resposta de IA hoje?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buscas por IA como primeiro passo para descobrir produtos cresceu 200% em um ano. Em vez de pesquisar no Google, consumidores estão começando a jornada de compra dentro de uma conversa com um assistente de IA.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dos líderes de e-commerce dizem que a IA já elevou a expectativa dos consumidores — mas só 28% das marcas já usam IA agentiva. A adoção ainda está atrás do comportamento.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2578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C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Buscas por IA para descobrir produtos cresceram 200% em 1 ano.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ig-agentic-sear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1254" y="6858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0972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617641" y="14173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HIPER-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26201" y="1874520"/>
            <a:ext cx="4842534" cy="50292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6201" y="18745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REALIDADE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17641" y="26974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ou offline? Pra Geração Z, já não faz diferença.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7641" y="35661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cultura digital deixou de existir só nas telas e passou a moldar a vida real. A fronteira entre o que é online e offline está desaparecendo, especialmente pra Geração Z.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distinguir o que é real ou gerado por IA, o que passa a importar pras marcas é a experiência que elas proporcionam — em qualquer um dos dois lados.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7641" y="59436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dos jovens dizem que “é tudo real”, sem diferenciar o virtual do físico.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prospect-hiper-realidad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13716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QUEM É A ARPEJO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10058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“A técnica constrói.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improviso desconstrói.”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48640" y="2880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uma agência de publicidade que, através da técnica, estudo e planejamento, constrói direcionais sólidos para então desconstruí-los através de soluções de comunicação fortes e verdadeiras.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6858000" cy="173736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800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“Good skills. Gold feeling.”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394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Acreditamos que o feeling não é o acaso, mas uma combinação de experiências, conhecimento, técnica aguçada e intuição.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51215" y="2880360"/>
            <a:ext cx="3291840" cy="3429000"/>
          </a:xfrm>
          <a:prstGeom prst="roundRect">
            <a:avLst>
              <a:gd name="adj" fmla="val 4444"/>
            </a:avLst>
          </a:prstGeom>
          <a:solidFill>
            <a:srgbClr val="DAFF94"/>
          </a:solidFill>
          <a:ln/>
        </p:spPr>
      </p:sp>
      <p:sp>
        <p:nvSpPr>
          <p:cNvPr id="49" name="Text 47"/>
          <p:cNvSpPr/>
          <p:nvPr/>
        </p:nvSpPr>
        <p:spPr>
          <a:xfrm>
            <a:off x="8625535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150+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8625535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 e reconhecimentos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25535" y="4983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Agência do Ano APP Campinas · Festival do Clube de Criação · Profissionais do Ano Rede Globo · FEPI · Mídia Festival APP Campinas · FestVídeo APP Ribeirão Preto · FestDigital · FestGraf APP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PROVA — O QUE FIZEMOS ESSE MÊS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1188720"/>
            <a:ext cx="5364328" cy="6858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PagueVeloz — Dia dos Pais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nome por trás do meu nome”: transformamos fachadas de comércio em homenagens aos pais que apoiaram o sonho de três empreendedores em São Paulo e Campinas.</a:t>
            </a:r>
            <a:endParaRPr lang="en-US" sz="1300" dirty="0"/>
          </a:p>
        </p:txBody>
      </p:sp>
      <p:sp>
        <p:nvSpPr>
          <p:cNvPr id="46" name="Text 44">
            <a:hlinkClick r:id="rId1" tooltip=""/>
          </p:cNvPr>
          <p:cNvSpPr/>
          <p:nvPr/>
        </p:nvSpPr>
        <p:spPr>
          <a:xfrm>
            <a:off x="548640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78728" y="1188720"/>
            <a:ext cx="5364328" cy="68580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8728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Grupo Equatorial — Dia dos Pais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78728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Espelhos apagados em locais de grande circulação só acendem uma palavra quando a pessoa termina de contar o que herdou do pai — não na aparência, na atitude.</a:t>
            </a:r>
            <a:endParaRPr lang="en-US" sz="130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6278728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Campanhas de Dia dos Pais assinadas pela Arpejo em agosto/26.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nosso diferencial: inteligência de mercado, todo mês.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56032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que você viu até agora — leitura de tendências de consumo, novidades de plataformas e cases que inspiram — é o nosso .report: um relatório proprietário que produzimos todo mês pra orientar as decisões dos nossos clientes.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fecha com a Arpejo não recebe só campanha. Recebe visão de mercado aplicada, com frequência mensal.</a:t>
            </a:r>
            <a:endParaRPr lang="en-US" sz="1500" dirty="0"/>
          </a:p>
        </p:txBody>
      </p:sp>
      <p:pic>
        <p:nvPicPr>
          <p:cNvPr id="6" name="Image 1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277295" y="59436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43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047" y="320040"/>
            <a:ext cx="292608" cy="292608"/>
          </a:xfrm>
          <a:prstGeom prst="rect">
            <a:avLst/>
          </a:prstGeom>
        </p:spPr>
      </p:pic>
      <p:pic>
        <p:nvPicPr>
          <p:cNvPr id="44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6245352"/>
            <a:ext cx="292608" cy="292608"/>
          </a:xfrm>
          <a:prstGeom prst="rect">
            <a:avLst/>
          </a:prstGeom>
        </p:spPr>
      </p:pic>
      <p:pic>
        <p:nvPicPr>
          <p:cNvPr id="45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79047" y="6245352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Vamos conversar sobre 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essas tendências significam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 sua marca?</a:t>
            </a:r>
            <a:endParaRPr lang="en-US" sz="3000" dirty="0"/>
          </a:p>
        </p:txBody>
      </p:sp>
      <p:sp>
        <p:nvSpPr>
          <p:cNvPr id="47" name="Text 41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 com a gente → @arpejo</a:t>
            </a:r>
            <a:endParaRPr lang="en-US" sz="1300" dirty="0"/>
          </a:p>
        </p:txBody>
      </p:sp>
      <p:pic>
        <p:nvPicPr>
          <p:cNvPr id="48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2194560" cy="65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2026-08-11T13:40:20Z</dcterms:created>
  <dcterms:modified xsi:type="dcterms:W3CDTF">2026-08-11T13:40:20Z</dcterms:modified>
</cp:coreProperties>
</file>