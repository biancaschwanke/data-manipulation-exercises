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JetBrains Mono Medium"/>
      <p:regular r:id="rId18"/>
      <p:bold r:id="rId19"/>
      <p:italic r:id="rId20"/>
      <p:boldItalic r:id="rId21"/>
    </p:embeddedFont>
    <p:embeddedFont>
      <p:font typeface="Urbanist"/>
      <p:regular r:id="rId22"/>
      <p:bold r:id="rId23"/>
      <p:italic r:id="rId24"/>
      <p:boldItalic r:id="rId25"/>
    </p:embeddedFont>
    <p:embeddedFont>
      <p:font typeface="Libre Baskerville"/>
      <p:regular r:id="rId26"/>
      <p:bold r:id="rId27"/>
      <p:italic r:id="rId28"/>
      <p:boldItalic r:id="rId29"/>
    </p:embeddedFont>
    <p:embeddedFont>
      <p:font typeface="Ubuntu Mono"/>
      <p:regular r:id="rId30"/>
      <p:bold r:id="rId31"/>
      <p:italic r:id="rId32"/>
      <p:boldItalic r:id="rId3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font" Target="fonts/JetBrainsMonoMedium-regular.fntdata"/><Relationship Id="rId19" Type="http://schemas.openxmlformats.org/officeDocument/2006/relationships/font" Target="fonts/JetBrainsMonoMedium-bold.fntdata"/><Relationship Id="rId20" Type="http://schemas.openxmlformats.org/officeDocument/2006/relationships/font" Target="fonts/JetBrainsMonoMedium-italic.fntdata"/><Relationship Id="rId21" Type="http://schemas.openxmlformats.org/officeDocument/2006/relationships/font" Target="fonts/JetBrainsMonoMedium-boldItalic.fntdata"/><Relationship Id="rId22" Type="http://schemas.openxmlformats.org/officeDocument/2006/relationships/font" Target="fonts/Urbanist-regular.fntdata"/><Relationship Id="rId23" Type="http://schemas.openxmlformats.org/officeDocument/2006/relationships/font" Target="fonts/Urbanist-bold.fntdata"/><Relationship Id="rId24" Type="http://schemas.openxmlformats.org/officeDocument/2006/relationships/font" Target="fonts/Urbanist-italic.fntdata"/><Relationship Id="rId25" Type="http://schemas.openxmlformats.org/officeDocument/2006/relationships/font" Target="fonts/Urbanist-boldItalic.fntdata"/><Relationship Id="rId26" Type="http://schemas.openxmlformats.org/officeDocument/2006/relationships/font" Target="fonts/LibreBaskerville-regular.fntdata"/><Relationship Id="rId27" Type="http://schemas.openxmlformats.org/officeDocument/2006/relationships/font" Target="fonts/LibreBaskerville-bold.fntdata"/><Relationship Id="rId28" Type="http://schemas.openxmlformats.org/officeDocument/2006/relationships/font" Target="fonts/LibreBaskerville-italic.fntdata"/><Relationship Id="rId29" Type="http://schemas.openxmlformats.org/officeDocument/2006/relationships/font" Target="fonts/LibreBaskerville-boldItalic.fntdata"/><Relationship Id="rId30" Type="http://schemas.openxmlformats.org/officeDocument/2006/relationships/font" Target="fonts/UbuntuMono-regular.fntdata"/><Relationship Id="rId31" Type="http://schemas.openxmlformats.org/officeDocument/2006/relationships/font" Target="fonts/UbuntuMono-bold.fntdata"/><Relationship Id="rId32" Type="http://schemas.openxmlformats.org/officeDocument/2006/relationships/font" Target="fonts/UbuntuMono-italic.fntdata"/><Relationship Id="rId33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F-eyFpkQ5I" TargetMode="External"/><Relationship Id="rId2" Type="http://schemas.openxmlformats.org/officeDocument/2006/relationships/hyperlink" Target="https://www.youtube.com/watch?v=Qu7DKe6zZf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4415" y="502920"/>
            <a:ext cx="457200" cy="457200"/>
          </a:xfrm>
          <a:prstGeom prst="rect">
            <a:avLst/>
          </a:prstGeom>
        </p:spPr>
      </p:pic>
      <p:pic>
        <p:nvPicPr>
          <p:cNvPr id="43" name="Image 1" descr="/home/user/data-manipulation-exercises/.claude/skills/arpejo-report-desdobramento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8" y="2286000"/>
            <a:ext cx="4754880" cy="1425324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3352648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Prospecção _ agosto_26</a:t>
            </a:r>
            <a:endParaRPr lang="en-US" sz="1400" dirty="0"/>
          </a:p>
        </p:txBody>
      </p:sp>
      <p:pic>
        <p:nvPicPr>
          <p:cNvPr id="45" name="Image 2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598932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 PONTO DE PARTIDA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mercado não para de mudar.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 sua marca está lendo isso em tempo real?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200%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crescimento nas buscas por IA para descobrir produtos em 1 ano.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8698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3018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40%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643018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jovens da Geração Z já não diferenciam experiências reais das virtuais.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8757" y="2743200"/>
            <a:ext cx="3454298" cy="3017520"/>
          </a:xfrm>
          <a:prstGeom prst="roundRect">
            <a:avLst>
              <a:gd name="adj" fmla="val 4242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3077" y="3017520"/>
            <a:ext cx="29056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64%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463077" y="3977640"/>
            <a:ext cx="29056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brasileiros declararam não consumir álcool em 2025 — e ainda assim, saem.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355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fonte: Salesforce, Opinion Box, Estadão — .report agosto_26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14884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5780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66760" y="6172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8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608076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11480"/>
            <a:ext cx="11094415" cy="5486400"/>
          </a:xfrm>
          <a:prstGeom prst="roundRect">
            <a:avLst>
              <a:gd name="adj" fmla="val 3333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731520"/>
            <a:ext cx="465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822960" y="1188720"/>
            <a:ext cx="4842534" cy="502920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188720"/>
            <a:ext cx="4842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" y="2011680"/>
            <a:ext cx="46596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2880360"/>
            <a:ext cx="46596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uso de buscas por IA como primeiro passo para descobrir produtos cresceu 200% em um ano. Em vez de pesquisar no Google, consumidores estão começando a jornada de compra dentro de uma conversa com um assistente de IA.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dos líderes de e-commerce dizem que a IA já elevou a expectativa dos consumidores — mas só 28% das marcas já usam IA agentiva. A adoção ainda está atrás do comportamento.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14400" y="5257800"/>
            <a:ext cx="46596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  <p:pic>
        <p:nvPicPr>
          <p:cNvPr id="16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1254" y="685800"/>
            <a:ext cx="529176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14884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70332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5780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66760" y="548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8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57200"/>
            <a:ext cx="457200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1097280"/>
            <a:ext cx="11094415" cy="5486400"/>
          </a:xfrm>
          <a:prstGeom prst="roundRect">
            <a:avLst>
              <a:gd name="adj" fmla="val 3333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6617641" y="1417320"/>
            <a:ext cx="4659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526201" y="1874520"/>
            <a:ext cx="4842534" cy="50292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26201" y="1874520"/>
            <a:ext cx="484253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617641" y="2697480"/>
            <a:ext cx="46596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17641" y="3566160"/>
            <a:ext cx="465965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cultura digital deixou de existir só nas telas e passou a moldar a vida real. A fronteira entre o que é online e offline está desaparecendo, especialmente pra Geração Z.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do que distinguir o que é real ou gerado por IA, o que passa a importar pras marcas é a experiência que elas proporcionam — em qualquer um dos dois lados.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617641" y="5943600"/>
            <a:ext cx="46596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  <p:pic>
        <p:nvPicPr>
          <p:cNvPr id="16" name="Image 1" descr="/tmp/claude-0/-home-user-data-manipulation-exercises/f19acac8-ccb4-5197-8e49-c3b6029ad477/scratchpad/report-images/final/prospect-hiper-realid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68680" y="1371600"/>
            <a:ext cx="529176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É A ARPEJO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100584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“A técnica constrói.</a:t>
            </a:r>
            <a:endParaRPr lang="en-US" sz="3200" dirty="0"/>
          </a:p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improviso desconstrói.”</a:t>
            </a:r>
            <a:endParaRPr lang="en-US" sz="3200" dirty="0"/>
          </a:p>
        </p:txBody>
      </p:sp>
      <p:sp>
        <p:nvSpPr>
          <p:cNvPr id="44" name="Text 42"/>
          <p:cNvSpPr/>
          <p:nvPr/>
        </p:nvSpPr>
        <p:spPr>
          <a:xfrm>
            <a:off x="548640" y="288036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Somos uma agência de publicidade que, através da técnica, estudo e planejamento, constrói direcionais sólidos para então desconstruí-los através de soluções de comunicação fortes e verdadeiras.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48640" y="4572000"/>
            <a:ext cx="6858000" cy="1737360"/>
          </a:xfrm>
          <a:prstGeom prst="roundRect">
            <a:avLst>
              <a:gd name="adj" fmla="val 8421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" y="48006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“Good skills. Gold feeling.”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868680" y="53949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Acreditamos que o feeling não é o acaso, mas uma combinação de experiências, conhecimento, técnica aguçada e intuição.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51215" y="2880360"/>
            <a:ext cx="3291840" cy="3429000"/>
          </a:xfrm>
          <a:prstGeom prst="roundRect">
            <a:avLst>
              <a:gd name="adj" fmla="val 4444"/>
            </a:avLst>
          </a:prstGeom>
          <a:solidFill>
            <a:srgbClr val="DAFF94"/>
          </a:solidFill>
          <a:ln/>
        </p:spPr>
      </p:sp>
      <p:sp>
        <p:nvSpPr>
          <p:cNvPr id="49" name="Text 47"/>
          <p:cNvSpPr/>
          <p:nvPr/>
        </p:nvSpPr>
        <p:spPr>
          <a:xfrm>
            <a:off x="8625535" y="32004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150+</a:t>
            </a:r>
            <a:endParaRPr lang="en-US" sz="5600" dirty="0"/>
          </a:p>
        </p:txBody>
      </p:sp>
      <p:sp>
        <p:nvSpPr>
          <p:cNvPr id="50" name="Text 48"/>
          <p:cNvSpPr/>
          <p:nvPr/>
        </p:nvSpPr>
        <p:spPr>
          <a:xfrm>
            <a:off x="8625535" y="4434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prêmios e reconhecimentos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625535" y="4983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Agência do Ano APP Campinas · Festival do Clube de Criação · Profissionais do Ano Rede Globo · FEPI · Mídia Festival APP Campinas · FestVídeo APP Ribeirão Preto · FestDigital · FestGraf APP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QUEM CONFIA NA GENTE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Marcas que já construíram</a:t>
            </a:r>
            <a:endParaRPr lang="en-US" sz="2400" dirty="0"/>
          </a:p>
          <a:p>
            <a:pPr indent="0" marL="0">
              <a:buNone/>
            </a:pPr>
            <a:r>
              <a:rPr lang="en-US" sz="24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direcionais sólidos com a Arpejo.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11094415" cy="4023360"/>
          </a:xfrm>
          <a:prstGeom prst="roundRect">
            <a:avLst>
              <a:gd name="adj" fmla="val 4091"/>
            </a:avLst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560320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Santa Massa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05124" y="2560320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Solito Alimentos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5848" y="2560320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Equatorial Energia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571" y="2560320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Lwart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255264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Educação Adventista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05124" y="3255264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Unna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5848" y="3255264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Óttima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571" y="3255264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Nutrive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950208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 Natural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05124" y="3950208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Formica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5848" y="3950208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Grupo Formitex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571" y="3950208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Donmario Sementes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4645152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ZF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05124" y="4645152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Mendorato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95848" y="4645152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Crokíssimo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571" y="4645152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Unimed Campinas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5340096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Quallity Pró Saúde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05124" y="5340096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Delphi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95848" y="5340096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PagueVeloz by Serasa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571" y="5340096"/>
            <a:ext cx="24078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Desktop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A GENTE É ORGANIZADA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454298" cy="4937760"/>
          </a:xfrm>
          <a:prstGeom prst="roundRect">
            <a:avLst>
              <a:gd name="adj" fmla="val 423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63040"/>
            <a:ext cx="29056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Estrutura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290565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Sede em Campinas/SP — o escritório Open House, pensado desde a planta pra criatividade fluir — e uma base estratégica em São Luís/MA.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68698" y="1188720"/>
            <a:ext cx="3454298" cy="4937760"/>
          </a:xfrm>
          <a:prstGeom prst="roundRect">
            <a:avLst>
              <a:gd name="adj" fmla="val 423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43018" y="1463040"/>
            <a:ext cx="29056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Sócios na liderança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43018" y="2377440"/>
            <a:ext cx="290565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societário composto por posições de liderança nas principais áreas da agência. Isso mantém a essência estratégica, técnica e criativa independente dos movimentos do mercado.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88757" y="1188720"/>
            <a:ext cx="3454298" cy="4937760"/>
          </a:xfrm>
          <a:prstGeom prst="roundRect">
            <a:avLst>
              <a:gd name="adj" fmla="val 4235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63077" y="1463040"/>
            <a:ext cx="29056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+90 pessoas, 8 estados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463077" y="2377440"/>
            <a:ext cx="290565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time plural, presente em DF, MA, MG, PR, PE, RS, RN e SP.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PROVA — O QUE FIZEMOS ESSE MÊS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8640" y="1188720"/>
            <a:ext cx="5364328" cy="68580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1188720"/>
            <a:ext cx="5364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48640" y="2194560"/>
            <a:ext cx="53643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nome por trás do meu nome”: transformamos fachadas de comércio em homenagens aos pais que apoiaram o sonho de três empreendedores em São Paulo e Campinas.</a:t>
            </a:r>
            <a:endParaRPr lang="en-US" sz="1300" dirty="0"/>
          </a:p>
        </p:txBody>
      </p:sp>
      <p:sp>
        <p:nvSpPr>
          <p:cNvPr id="46" name="Text 44">
            <a:hlinkClick r:id="rId1" tooltip=""/>
          </p:cNvPr>
          <p:cNvSpPr/>
          <p:nvPr/>
        </p:nvSpPr>
        <p:spPr>
          <a:xfrm>
            <a:off x="548640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278728" y="1188720"/>
            <a:ext cx="5364328" cy="68580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78728" y="1188720"/>
            <a:ext cx="5364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78728" y="2194560"/>
            <a:ext cx="536432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Espelhos apagados em locais de grande circulação só acendem uma palavra quando a pessoa termina de contar o que herdou do pai — não na aparência, na atitude.</a:t>
            </a:r>
            <a:endParaRPr lang="en-US" sz="1300" dirty="0"/>
          </a:p>
        </p:txBody>
      </p:sp>
      <p:sp>
        <p:nvSpPr>
          <p:cNvPr id="50" name="Text 48">
            <a:hlinkClick r:id="rId2" tooltip=""/>
          </p:cNvPr>
          <p:cNvSpPr/>
          <p:nvPr/>
        </p:nvSpPr>
        <p:spPr>
          <a:xfrm>
            <a:off x="6278728" y="457200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assistir ao case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8640" y="5394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Campanhas de Dia dos Pais assinadas pela Arpejo em agosto/26.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5855" y="45720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13716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 nosso diferencial: inteligência de mercado, todo mês.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256032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que você viu até agora — leitura de tendências de consumo, novidades de plataformas e cases que inspiram — é o nosso .report: um relatório proprietário que produzimos todo mês pra orientar as decisões dos nossos clientes.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fecha com a Arpejo não recebe só campanha. Recebe visão de mercado aplicada, com frequência mensal.</a:t>
            </a:r>
            <a:endParaRPr lang="en-US" sz="1500" dirty="0"/>
          </a:p>
        </p:txBody>
      </p:sp>
      <p:pic>
        <p:nvPicPr>
          <p:cNvPr id="6" name="Image 1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COMO TRABALHAMOS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2560320"/>
            <a:ext cx="2499284" cy="182880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743200"/>
            <a:ext cx="204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13684" y="2560320"/>
            <a:ext cx="2499284" cy="182880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42284" y="2743200"/>
            <a:ext cx="204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42284" y="32461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8728" y="2560320"/>
            <a:ext cx="2499284" cy="182880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2743200"/>
            <a:ext cx="204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07328" y="32461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Criação &amp; mídia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143771" y="2560320"/>
            <a:ext cx="2499284" cy="182880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 w="9525">
            <a:solidFill>
              <a:srgbClr val="DAFF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72371" y="2743200"/>
            <a:ext cx="20420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371" y="3246120"/>
            <a:ext cx="20420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.report mensal contínuo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2402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7033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6636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62940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9244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5548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018520" y="685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2402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033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294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5554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018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033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09244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55548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0185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402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033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6636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62940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09244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55548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0185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72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2402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7033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6636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2940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09244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55548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1018520" y="5440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4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4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31520" y="2011680"/>
            <a:ext cx="107286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Vamos conversar sobre o que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essas tendências significam</a:t>
            </a:r>
            <a:endParaRPr lang="en-US" sz="3000" dirty="0"/>
          </a:p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pra sua marca?</a:t>
            </a:r>
            <a:endParaRPr lang="en-US" sz="3000" dirty="0"/>
          </a:p>
        </p:txBody>
      </p:sp>
      <p:sp>
        <p:nvSpPr>
          <p:cNvPr id="47" name="Text 41"/>
          <p:cNvSpPr/>
          <p:nvPr/>
        </p:nvSpPr>
        <p:spPr>
          <a:xfrm>
            <a:off x="731520" y="4754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300" dirty="0"/>
          </a:p>
        </p:txBody>
      </p:sp>
      <p:pic>
        <p:nvPicPr>
          <p:cNvPr id="48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669280"/>
            <a:ext cx="2194560" cy="657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2026-08-11T13:25:21Z</dcterms:created>
  <dcterms:modified xsi:type="dcterms:W3CDTF">2026-08-11T13:25:21Z</dcterms:modified>
</cp:coreProperties>
</file>