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embeddedFontLst>
    <p:embeddedFont>
      <p:font typeface="JetBrains Mono Medium"/>
      <p:regular r:id="rId15"/>
      <p:bold r:id="rId16"/>
      <p:italic r:id="rId17"/>
      <p:boldItalic r:id="rId18"/>
    </p:embeddedFont>
    <p:embeddedFont>
      <p:font typeface="Urbanist"/>
      <p:regular r:id="rId19"/>
      <p:bold r:id="rId20"/>
      <p:italic r:id="rId21"/>
      <p:boldItalic r:id="rId22"/>
    </p:embeddedFont>
    <p:embeddedFont>
      <p:font typeface="Libre Baskerville"/>
      <p:regular r:id="rId23"/>
      <p:bold r:id="rId24"/>
      <p:italic r:id="rId25"/>
      <p:boldItalic r:id="rId26"/>
    </p:embeddedFont>
    <p:embeddedFont>
      <p:font typeface="Ubuntu Mono"/>
      <p:regular r:id="rId27"/>
      <p:bold r:id="rId28"/>
      <p:italic r:id="rId29"/>
      <p:boldItalic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JetBrainsMonoMedium-regular.fntdata"/><Relationship Id="rId16" Type="http://schemas.openxmlformats.org/officeDocument/2006/relationships/font" Target="fonts/JetBrainsMonoMedium-bold.fntdata"/><Relationship Id="rId17" Type="http://schemas.openxmlformats.org/officeDocument/2006/relationships/font" Target="fonts/JetBrainsMonoMedium-italic.fntdata"/><Relationship Id="rId18" Type="http://schemas.openxmlformats.org/officeDocument/2006/relationships/font" Target="fonts/JetBrainsMonoMedium-boldItalic.fntdata"/><Relationship Id="rId19" Type="http://schemas.openxmlformats.org/officeDocument/2006/relationships/font" Target="fonts/Urbanist-regular.fntdata"/><Relationship Id="rId20" Type="http://schemas.openxmlformats.org/officeDocument/2006/relationships/font" Target="fonts/Urbanist-bold.fntdata"/><Relationship Id="rId21" Type="http://schemas.openxmlformats.org/officeDocument/2006/relationships/font" Target="fonts/Urbanist-italic.fntdata"/><Relationship Id="rId22" Type="http://schemas.openxmlformats.org/officeDocument/2006/relationships/font" Target="fonts/Urbanist-boldItalic.fntdata"/><Relationship Id="rId23" Type="http://schemas.openxmlformats.org/officeDocument/2006/relationships/font" Target="fonts/LibreBaskerville-regular.fntdata"/><Relationship Id="rId24" Type="http://schemas.openxmlformats.org/officeDocument/2006/relationships/font" Target="fonts/LibreBaskerville-bold.fntdata"/><Relationship Id="rId25" Type="http://schemas.openxmlformats.org/officeDocument/2006/relationships/font" Target="fonts/LibreBaskerville-italic.fntdata"/><Relationship Id="rId26" Type="http://schemas.openxmlformats.org/officeDocument/2006/relationships/font" Target="fonts/LibreBaskerville-boldItalic.fntdata"/><Relationship Id="rId27" Type="http://schemas.openxmlformats.org/officeDocument/2006/relationships/font" Target="fonts/UbuntuMono-regular.fntdata"/><Relationship Id="rId28" Type="http://schemas.openxmlformats.org/officeDocument/2006/relationships/font" Target="fonts/UbuntuMono-bold.fntdata"/><Relationship Id="rId29" Type="http://schemas.openxmlformats.org/officeDocument/2006/relationships/font" Target="fonts/UbuntuMono-italic.fntdata"/><Relationship Id="rId30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F-eyFpkQ5I" TargetMode="External"/><Relationship Id="rId2" Type="http://schemas.openxmlformats.org/officeDocument/2006/relationships/hyperlink" Target="https://www.youtube.com/watch?v=Qu7DKe6zZf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4415" y="502920"/>
            <a:ext cx="457200" cy="457200"/>
          </a:xfrm>
          <a:prstGeom prst="rect">
            <a:avLst/>
          </a:prstGeom>
        </p:spPr>
      </p:pic>
      <p:pic>
        <p:nvPicPr>
          <p:cNvPr id="43" name="Image 1" descr="..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286000"/>
            <a:ext cx="4754880" cy="1425324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3352648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Prospecção _ agosto_26</a:t>
            </a:r>
            <a:endParaRPr lang="en-US" sz="1400" dirty="0"/>
          </a:p>
        </p:txBody>
      </p:sp>
      <p:pic>
        <p:nvPicPr>
          <p:cNvPr id="45" name="Image 2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598932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43018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63077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608076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114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315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822960" y="1188720"/>
            <a:ext cx="4842534" cy="502920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1887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" y="20116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28803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como primeiro passo para descobrir produtos cresceu 200% em um ano. Em vez de pesquisar no Google, consumidores estão começando a jornada de compra dentro de uma conversa com um assistente de IA.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dizem que a IA já elevou a expectativa dos consumidores — mas só 28% das marcas já usam IA agentiva. A adoção ainda está atrás do comportamento.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14400" y="52578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15170" r="15170" t="0" b="0"/>
          <a:stretch/>
        </p:blipFill>
        <p:spPr>
          <a:xfrm>
            <a:off x="6031254" y="6858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0972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6617641" y="14173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526201" y="1874520"/>
            <a:ext cx="4842534" cy="5029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26201" y="18745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617641" y="26974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17641" y="35661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só nas telas e passou a moldar a vida real. A fronteira entre o que é online e offline está desaparecendo, especialmente pra Geração Z.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pras marcas é a experiência que elas proporcionam — em qualquer um dos dois lados.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617641" y="59436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prospect-hiper-realidade.jpg">    </p:cNvPr>
          <p:cNvPicPr>
            <a:picLocks noChangeAspect="1"/>
          </p:cNvPicPr>
          <p:nvPr/>
        </p:nvPicPr>
        <p:blipFill>
          <a:blip r:embed="rId2"/>
          <a:srcRect l="3113" r="3113" t="0" b="0"/>
          <a:stretch/>
        </p:blipFill>
        <p:spPr>
          <a:xfrm>
            <a:off x="868680" y="13716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É A ARPEJO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10058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“A técnica constrói.</a:t>
            </a:r>
            <a:endParaRPr lang="en-US" sz="3200" dirty="0"/>
          </a:p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improviso desconstrói.”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548640" y="288036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uma agência de publicidade que, através da técnica, estudo e planejamento, constrói direcionais sólidos para então desconstruí-los através de soluções de comunicação fortes e verdadeiras.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4572000"/>
            <a:ext cx="6858000" cy="1737360"/>
          </a:xfrm>
          <a:prstGeom prst="roundRect">
            <a:avLst>
              <a:gd name="adj" fmla="val 8421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48006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“Good skills. Gold feeling.”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868680" y="53949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Acreditamos que o feeling não é o acaso, mas uma combinação de experiências, conhecimento, técnica aguçada e intuição.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51215" y="2880360"/>
            <a:ext cx="3291840" cy="3429000"/>
          </a:xfrm>
          <a:prstGeom prst="roundRect">
            <a:avLst>
              <a:gd name="adj" fmla="val 4444"/>
            </a:avLst>
          </a:prstGeom>
          <a:solidFill>
            <a:srgbClr val="DAFF94"/>
          </a:solidFill>
          <a:ln/>
        </p:spPr>
      </p:sp>
      <p:sp>
        <p:nvSpPr>
          <p:cNvPr id="49" name="Text 47"/>
          <p:cNvSpPr/>
          <p:nvPr/>
        </p:nvSpPr>
        <p:spPr>
          <a:xfrm>
            <a:off x="8625535" y="32004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150+</a:t>
            </a:r>
            <a:endParaRPr lang="en-US" sz="5600" dirty="0"/>
          </a:p>
        </p:txBody>
      </p:sp>
      <p:sp>
        <p:nvSpPr>
          <p:cNvPr id="50" name="Text 48"/>
          <p:cNvSpPr/>
          <p:nvPr/>
        </p:nvSpPr>
        <p:spPr>
          <a:xfrm>
            <a:off x="8625535" y="4434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 e reconhecimentos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25535" y="4983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Agência do Ano APP Campinas · Festival do Clube de Criação · Profissionais do Ano Rede Globo · FEPI · Mídia Festival APP Campinas · FestVídeo APP Ribeirão Preto · FestDigital · FestGraf APP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1188720"/>
            <a:ext cx="5364328" cy="68580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48640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transformamos fachadas de comércio em homenagens aos pais que apoiaram o sonho de três empreendedores em São Paulo e Campinas.</a:t>
            </a:r>
            <a:endParaRPr lang="en-US" sz="1300" dirty="0"/>
          </a:p>
        </p:txBody>
      </p:sp>
      <p:sp>
        <p:nvSpPr>
          <p:cNvPr id="46" name="Text 44">
            <a:hlinkClick r:id="rId1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78728" y="1188720"/>
            <a:ext cx="5364328" cy="68580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78728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78728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 só acendem uma palavra quando a pessoa termina de contar o que herdou do pai — não na aparência, na atitude.</a:t>
            </a:r>
            <a:endParaRPr lang="en-US" sz="1300" dirty="0"/>
          </a:p>
        </p:txBody>
      </p:sp>
      <p:sp>
        <p:nvSpPr>
          <p:cNvPr id="50" name="Text 48">
            <a:hlinkClick r:id="rId2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5394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11094415" cy="5257800"/>
          </a:xfrm>
          <a:prstGeom prst="roundRect">
            <a:avLst>
              <a:gd name="adj" fmla="val 3478"/>
            </a:avLst>
          </a:prstGeom>
          <a:solidFill>
            <a:srgbClr val="000000"/>
          </a:solidFill>
          <a:ln/>
        </p:spPr>
      </p:sp>
      <p:sp>
        <p:nvSpPr>
          <p:cNvPr id="5" name="Text 2"/>
          <p:cNvSpPr/>
          <p:nvPr/>
        </p:nvSpPr>
        <p:spPr>
          <a:xfrm>
            <a:off x="960120" y="1508760"/>
            <a:ext cx="5090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60120" y="2971800"/>
            <a:ext cx="50900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viu até agora — leitura de tendências de consumo, novidades de plataformas e cases que inspiram — é o nosso .report: um relatório proprietário que produzimos todo mês pra orientar as decisões dos nossos clientes.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350" dirty="0"/>
          </a:p>
        </p:txBody>
      </p:sp>
      <p:pic>
        <p:nvPicPr>
          <p:cNvPr id="7" name="Image 1" descr="/tmp/claude-0/-home-user-data-manipulation-exercises/f19acac8-ccb4-5197-8e49-c3b6029ad477/scratchpad/report-images/final/prospect-diferencial.jpg">    </p:cNvPr>
          <p:cNvPicPr>
            <a:picLocks noChangeAspect="1"/>
          </p:cNvPicPr>
          <p:nvPr/>
        </p:nvPicPr>
        <p:blipFill>
          <a:blip r:embed="rId2"/>
          <a:srcRect l="15127" r="15127" t="0" b="0"/>
          <a:stretch/>
        </p:blipFill>
        <p:spPr>
          <a:xfrm>
            <a:off x="6461608" y="1463040"/>
            <a:ext cx="4861408" cy="4617720"/>
          </a:xfrm>
          <a:prstGeom prst="rect">
            <a:avLst/>
          </a:prstGeom>
        </p:spPr>
      </p:pic>
      <p:pic>
        <p:nvPicPr>
          <p:cNvPr id="8" name="Image 2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3" name="Image 1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44" name="Image 2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45" name="Image 3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47" name="Text 4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300" dirty="0"/>
          </a:p>
        </p:txBody>
      </p:sp>
      <p:pic>
        <p:nvPicPr>
          <p:cNvPr id="48" name="Image 4" descr="../assets/arpejo-report-logo-all-bl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2026-08-11T13:53:56Z</dcterms:created>
  <dcterms:modified xsi:type="dcterms:W3CDTF">2026-08-11T13:53:56Z</dcterms:modified>
</cp:coreProperties>
</file>