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JetBrains Mono Medium"/>
      <p:regular r:id="rId17"/>
      <p:bold r:id="rId18"/>
      <p:italic r:id="rId19"/>
      <p:boldItalic r:id="rId20"/>
    </p:embeddedFont>
    <p:embeddedFont>
      <p:font typeface="Urbanist"/>
      <p:regular r:id="rId21"/>
      <p:bold r:id="rId22"/>
      <p:italic r:id="rId23"/>
      <p:boldItalic r:id="rId24"/>
    </p:embeddedFont>
    <p:embeddedFont>
      <p:font typeface="Libre Baskerville"/>
      <p:regular r:id="rId25"/>
      <p:bold r:id="rId26"/>
      <p:italic r:id="rId27"/>
      <p:boldItalic r:id="rId28"/>
    </p:embeddedFont>
    <p:embeddedFont>
      <p:font typeface="Ubuntu Mono"/>
      <p:regular r:id="rId29"/>
      <p:bold r:id="rId30"/>
      <p:italic r:id="rId31"/>
      <p:boldItalic r:id="rId3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JetBrainsMonoMedium-regular.fntdata"/><Relationship Id="rId18" Type="http://schemas.openxmlformats.org/officeDocument/2006/relationships/font" Target="fonts/JetBrainsMonoMedium-bold.fntdata"/><Relationship Id="rId19" Type="http://schemas.openxmlformats.org/officeDocument/2006/relationships/font" Target="fonts/JetBrainsMonoMedium-italic.fntdata"/><Relationship Id="rId20" Type="http://schemas.openxmlformats.org/officeDocument/2006/relationships/font" Target="fonts/JetBrainsMonoMedium-boldItalic.fntdata"/><Relationship Id="rId21" Type="http://schemas.openxmlformats.org/officeDocument/2006/relationships/font" Target="fonts/Urbanist-regular.fntdata"/><Relationship Id="rId22" Type="http://schemas.openxmlformats.org/officeDocument/2006/relationships/font" Target="fonts/Urbanist-bold.fntdata"/><Relationship Id="rId23" Type="http://schemas.openxmlformats.org/officeDocument/2006/relationships/font" Target="fonts/Urbanist-italic.fntdata"/><Relationship Id="rId24" Type="http://schemas.openxmlformats.org/officeDocument/2006/relationships/font" Target="fonts/Urbanist-boldItalic.fntdata"/><Relationship Id="rId25" Type="http://schemas.openxmlformats.org/officeDocument/2006/relationships/font" Target="fonts/LibreBaskerville-regular.fntdata"/><Relationship Id="rId26" Type="http://schemas.openxmlformats.org/officeDocument/2006/relationships/font" Target="fonts/LibreBaskerville-bold.fntdata"/><Relationship Id="rId27" Type="http://schemas.openxmlformats.org/officeDocument/2006/relationships/font" Target="fonts/LibreBaskerville-italic.fntdata"/><Relationship Id="rId28" Type="http://schemas.openxmlformats.org/officeDocument/2006/relationships/font" Target="fonts/LibreBaskerville-boldItalic.fntdata"/><Relationship Id="rId29" Type="http://schemas.openxmlformats.org/officeDocument/2006/relationships/font" Target="fonts/UbuntuMono-regular.fntdata"/><Relationship Id="rId30" Type="http://schemas.openxmlformats.org/officeDocument/2006/relationships/font" Target="fonts/UbuntuMono-bold.fntdata"/><Relationship Id="rId31" Type="http://schemas.openxmlformats.org/officeDocument/2006/relationships/font" Target="fonts/UbuntuMono-italic.fntdata"/><Relationship Id="rId32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4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9047" y="320040"/>
            <a:ext cx="292608" cy="292608"/>
          </a:xfrm>
          <a:prstGeom prst="rect">
            <a:avLst/>
          </a:prstGeom>
        </p:spPr>
      </p:pic>
      <p:pic>
        <p:nvPicPr>
          <p:cNvPr id="5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20040" y="6245352"/>
            <a:ext cx="292608" cy="292608"/>
          </a:xfrm>
          <a:prstGeom prst="rect">
            <a:avLst/>
          </a:prstGeom>
        </p:spPr>
      </p:pic>
      <p:pic>
        <p:nvPicPr>
          <p:cNvPr id="6" name="Image 4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1579047" y="6245352"/>
            <a:ext cx="292608" cy="292608"/>
          </a:xfrm>
          <a:prstGeom prst="rect">
            <a:avLst/>
          </a:prstGeom>
        </p:spPr>
      </p:pic>
      <p:pic>
        <p:nvPicPr>
          <p:cNvPr id="7" name="Image 5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48" y="2377440"/>
            <a:ext cx="3657600" cy="1096403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2438248" y="3931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Inteligência de mercado a serviço da sua marca.</a:t>
            </a:r>
            <a:endParaRPr lang="en-US" sz="2200" dirty="0"/>
          </a:p>
        </p:txBody>
      </p:sp>
      <p:sp>
        <p:nvSpPr>
          <p:cNvPr id="9" name="Text 1"/>
          <p:cNvSpPr/>
          <p:nvPr/>
        </p:nvSpPr>
        <p:spPr>
          <a:xfrm>
            <a:off x="3352648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apresentação de prospecção _ agosto_26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PONTO DE PARTIDA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mercado não para de mudar.</a:t>
            </a:r>
            <a:endParaRPr lang="en-US" sz="2800" dirty="0"/>
          </a:p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 sua marca está lendo isso em tempo real?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200%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crescimento nas buscas por IA para descobrir produtos em 1 ano.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68698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40%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97298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jovens da Geração Z já não diferenciam experiências reais das virtuais.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88757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7357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64%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417357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brasileiros declararam não consumir álcool em 2025 — e ainda assim, saem.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fonte: Sales Force, Opinion Box, Estadão — .report agosto_26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2377440" cy="73152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88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IA</a:t>
            </a:r>
            <a:endParaRPr lang="en-US" sz="2000" dirty="0"/>
          </a:p>
        </p:txBody>
      </p:sp>
      <p:pic>
        <p:nvPicPr>
          <p:cNvPr id="7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2453" y="14008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está redefinindo a descoberta de produtos.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40080" y="3566160"/>
            <a:ext cx="6400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uso de buscas por IA (Agentic Search) como primeiro passo para descobrir produtos cresceu 200% em um ano. Em vez de pesquisar no Google ou acessar o site de uma marca, consumidores estão começando suas conversas com assistentes de IA, redes sociais e aplicativos.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 dos líderes de e-commerce afirmam que a IA elevou as expectativas dos consumidores, mas apenas 28% das empresas já utilizam IA agentiva — a adoção das marcas ainda está atrás do comportamento dos consumidores.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98080" y="2194560"/>
            <a:ext cx="4023360" cy="4206240"/>
          </a:xfrm>
          <a:prstGeom prst="roundRect">
            <a:avLst>
              <a:gd name="adj" fmla="val 272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0" y="2468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que isso significa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pra sua marca: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772400" y="338328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sua marca não é encontrada — ou não é bem descrita — dentro de uma conversa de IA, ela simplesmente não existe na nova jornada de compra.</a:t>
            </a:r>
            <a:endParaRPr lang="en-US" sz="1300" dirty="0"/>
          </a:p>
        </p:txBody>
      </p:sp>
      <p:pic>
        <p:nvPicPr>
          <p:cNvPr id="13" name="Image 1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5120640" cy="4480560"/>
          </a:xfrm>
          <a:prstGeom prst="roundRect">
            <a:avLst>
              <a:gd name="adj" fmla="val 3061"/>
            </a:avLst>
          </a:prstGeom>
          <a:solidFill>
            <a:srgbClr val="DAFF9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46304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22222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Na hiper-realidade, online ou offline, o que conta é a experiência.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0" y="13716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cultura digital deixou de existir apenas nas telas e passou a moldar a vida real. A fronteira entre o que é online e offline está desaparecendo, especialmente para a Geração Z. Hoje, 40% dos jovens afirmam que “é tudo real”, sem diferenciar experiências virtuais das físicas.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3504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43434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do que distinguir o que é real ou gerado por IA, o que passa a importar é a experiência que a marca proporciona.</a:t>
            </a:r>
            <a:endParaRPr lang="en-US" sz="1300" dirty="0"/>
          </a:p>
        </p:txBody>
      </p:sp>
      <p:pic>
        <p:nvPicPr>
          <p:cNvPr id="11" name="Image 0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QUEM SOMOS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37744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[ Adicionar aqui o posicionamento oficial da Arpejo — quem</a:t>
            </a:r>
            <a:endParaRPr lang="en-US" sz="2200" dirty="0"/>
          </a:p>
          <a:p>
            <a:pPr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vocês são, para quem trabalham e o que os diferencia.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slide é um placeholder deliberado: o report não traz copy institucional da agência, então preferimos deixar em aberto a preencher com a Bianca do que inventar posicionamento.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QUE FAZEMOS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Estratégia ]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13684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96564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Criação e campanhas 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1608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Mídia 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3771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651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Inteligência de mercado ]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4754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preencher com o portfólio real de serviços da Arpejo.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PROVA — O QUE FIZEMOS ESSE MÊS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2377440"/>
            <a:ext cx="4572000" cy="822960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97280" y="23774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PagueVeloz — Dia dos Pais</a:t>
            </a:r>
            <a:endParaRPr lang="en-US" sz="1600" dirty="0"/>
          </a:p>
        </p:txBody>
      </p:sp>
      <p:pic>
        <p:nvPicPr>
          <p:cNvPr id="6" name="Image 1" descr="/home/user/data-manipulation-exercises/.claude/skills/brand-guidelines/assets/textures/glob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330" y="2616098"/>
            <a:ext cx="345643" cy="34564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0" y="3657600"/>
            <a:ext cx="4754880" cy="82296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Grupo Equatorial — Dia dos Pais</a:t>
            </a:r>
            <a:endParaRPr lang="en-US" sz="1600" dirty="0"/>
          </a:p>
        </p:txBody>
      </p:sp>
      <p:pic>
        <p:nvPicPr>
          <p:cNvPr id="9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3730" y="3896258"/>
            <a:ext cx="345643" cy="34564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97280" y="5120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Campanhas de Dia dos Pais assinadas pela Arpejo em agosto/26.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nosso diferencial: inteligência de mercado, todo mês.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9144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que você está vendo agora — leitura de tendências de consumo, novidades de plataformas e cases que inspiram — é o nosso .report: um relatório proprietário que produzimos todo mês para orientar as decisões dos nossos clientes.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fecha com a Arpejo não recebe só campanha. Recebe visão de mercado aplicada, com frequência mensal.</a:t>
            </a:r>
            <a:endParaRPr lang="en-US" sz="1500" dirty="0"/>
          </a:p>
        </p:txBody>
      </p:sp>
      <p:pic>
        <p:nvPicPr>
          <p:cNvPr id="7" name="Image 0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COMO TRABALHAMOS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13684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96564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96564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1608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61608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 &amp; mídia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3771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651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326651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.report mensal contínuo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480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ajustar etapas ao processo real da Arpejo.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4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9047" y="320040"/>
            <a:ext cx="292608" cy="292608"/>
          </a:xfrm>
          <a:prstGeom prst="rect">
            <a:avLst/>
          </a:prstGeom>
        </p:spPr>
      </p:pic>
      <p:pic>
        <p:nvPicPr>
          <p:cNvPr id="5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20040" y="6245352"/>
            <a:ext cx="292608" cy="292608"/>
          </a:xfrm>
          <a:prstGeom prst="rect">
            <a:avLst/>
          </a:prstGeom>
        </p:spPr>
      </p:pic>
      <p:pic>
        <p:nvPicPr>
          <p:cNvPr id="6" name="Image 4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1579047" y="6245352"/>
            <a:ext cx="292608" cy="292608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731520" y="2011680"/>
            <a:ext cx="107286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Vamos conversar sobre o que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essas tendências significam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pra sua marca?</a:t>
            </a:r>
            <a:endParaRPr lang="en-US" sz="3000" dirty="0"/>
          </a:p>
        </p:txBody>
      </p:sp>
      <p:sp>
        <p:nvSpPr>
          <p:cNvPr id="8" name="Text 1"/>
          <p:cNvSpPr/>
          <p:nvPr/>
        </p:nvSpPr>
        <p:spPr>
          <a:xfrm>
            <a:off x="731520" y="4754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contato@ / site / whatsapp — preencher ]</a:t>
            </a:r>
            <a:endParaRPr lang="en-US" sz="1300" dirty="0"/>
          </a:p>
        </p:txBody>
      </p:sp>
      <p:pic>
        <p:nvPicPr>
          <p:cNvPr id="9" name="Image 5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669280"/>
            <a:ext cx="2194560" cy="6578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2026-08-10T17:46:31Z</dcterms:created>
  <dcterms:modified xsi:type="dcterms:W3CDTF">2026-08-10T17:46:31Z</dcterms:modified>
</cp:coreProperties>
</file>