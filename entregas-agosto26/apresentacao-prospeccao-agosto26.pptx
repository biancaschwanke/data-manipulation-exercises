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ContentType="application/x-fontdata" Extension="f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embeddedFontLst>
    <p:embeddedFont>
      <p:font typeface="JetBrains Mono Medium"/>
      <p:regular r:id="rId15"/>
      <p:bold r:id="rId16"/>
      <p:italic r:id="rId17"/>
      <p:boldItalic r:id="rId18"/>
    </p:embeddedFont>
    <p:embeddedFont>
      <p:font typeface="Urbanist"/>
      <p:regular r:id="rId19"/>
      <p:bold r:id="rId20"/>
      <p:italic r:id="rId21"/>
      <p:boldItalic r:id="rId22"/>
    </p:embeddedFont>
    <p:embeddedFont>
      <p:font typeface="Libre Baskerville"/>
      <p:regular r:id="rId23"/>
      <p:bold r:id="rId24"/>
      <p:italic r:id="rId25"/>
      <p:boldItalic r:id="rId26"/>
    </p:embeddedFont>
    <p:embeddedFont>
      <p:font typeface="Ubuntu Mono"/>
      <p:regular r:id="rId27"/>
      <p:bold r:id="rId28"/>
      <p:italic r:id="rId29"/>
      <p:boldItalic r:id="rId3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font" Target="fonts/JetBrainsMonoMedium-regular.fntdata"/><Relationship Id="rId16" Type="http://schemas.openxmlformats.org/officeDocument/2006/relationships/font" Target="fonts/JetBrainsMonoMedium-bold.fntdata"/><Relationship Id="rId17" Type="http://schemas.openxmlformats.org/officeDocument/2006/relationships/font" Target="fonts/JetBrainsMonoMedium-italic.fntdata"/><Relationship Id="rId18" Type="http://schemas.openxmlformats.org/officeDocument/2006/relationships/font" Target="fonts/JetBrainsMonoMedium-boldItalic.fntdata"/><Relationship Id="rId19" Type="http://schemas.openxmlformats.org/officeDocument/2006/relationships/font" Target="fonts/Urbanist-regular.fntdata"/><Relationship Id="rId20" Type="http://schemas.openxmlformats.org/officeDocument/2006/relationships/font" Target="fonts/Urbanist-bold.fntdata"/><Relationship Id="rId21" Type="http://schemas.openxmlformats.org/officeDocument/2006/relationships/font" Target="fonts/Urbanist-italic.fntdata"/><Relationship Id="rId22" Type="http://schemas.openxmlformats.org/officeDocument/2006/relationships/font" Target="fonts/Urbanist-boldItalic.fntdata"/><Relationship Id="rId23" Type="http://schemas.openxmlformats.org/officeDocument/2006/relationships/font" Target="fonts/LibreBaskerville-regular.fntdata"/><Relationship Id="rId24" Type="http://schemas.openxmlformats.org/officeDocument/2006/relationships/font" Target="fonts/LibreBaskerville-bold.fntdata"/><Relationship Id="rId25" Type="http://schemas.openxmlformats.org/officeDocument/2006/relationships/font" Target="fonts/LibreBaskerville-italic.fntdata"/><Relationship Id="rId26" Type="http://schemas.openxmlformats.org/officeDocument/2006/relationships/font" Target="fonts/LibreBaskerville-boldItalic.fntdata"/><Relationship Id="rId27" Type="http://schemas.openxmlformats.org/officeDocument/2006/relationships/font" Target="fonts/UbuntuMono-regular.fntdata"/><Relationship Id="rId28" Type="http://schemas.openxmlformats.org/officeDocument/2006/relationships/font" Target="fonts/UbuntuMono-bold.fntdata"/><Relationship Id="rId29" Type="http://schemas.openxmlformats.org/officeDocument/2006/relationships/font" Target="fonts/UbuntuMono-italic.fntdata"/><Relationship Id="rId30" Type="http://schemas.openxmlformats.org/officeDocument/2006/relationships/font" Target="fonts/UbuntuMono-boldItalic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pF-eyFpkQ5I" TargetMode="External"/><Relationship Id="rId2" Type="http://schemas.openxmlformats.org/officeDocument/2006/relationships/hyperlink" Target="https://www.youtube.com/watch?v=Qu7DKe6zZfE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1.png"/><Relationship Id="rId3" Type="http://schemas.openxmlformats.org/officeDocument/2006/relationships/image" Target="../media/image-8-1.png"/><Relationship Id="rId4" Type="http://schemas.openxmlformats.org/officeDocument/2006/relationships/image" Target="../media/image-8-1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AFF9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24028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70332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16636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62940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09244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55548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01852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772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24028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7033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6636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62940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0924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55548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0185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7724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24028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70332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16636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2940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09244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55548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101852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7724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24028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70332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16636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62940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09244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55548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101852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7724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224028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370332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16636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62940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09244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955548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1101852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pic>
        <p:nvPicPr>
          <p:cNvPr id="42" name="Image 0" descr="/tmp/claude-0/-home-user-data-manipulation-exercises/f19acac8-ccb4-5197-8e49-c3b6029ad477/scratchpad/texture-check/assets/globe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4415" y="502920"/>
            <a:ext cx="457200" cy="457200"/>
          </a:xfrm>
          <a:prstGeom prst="rect">
            <a:avLst/>
          </a:prstGeom>
        </p:spPr>
      </p:pic>
      <p:pic>
        <p:nvPicPr>
          <p:cNvPr id="43" name="Image 1" descr="../assets/arpejo-report-logo-all-bl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8408" y="2286000"/>
            <a:ext cx="4754880" cy="1425324"/>
          </a:xfrm>
          <a:prstGeom prst="rect">
            <a:avLst/>
          </a:prstGeom>
        </p:spPr>
      </p:pic>
      <p:sp>
        <p:nvSpPr>
          <p:cNvPr id="44" name="Text 40"/>
          <p:cNvSpPr/>
          <p:nvPr/>
        </p:nvSpPr>
        <p:spPr>
          <a:xfrm>
            <a:off x="3352648" y="5486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Prospecção _ agosto_26</a:t>
            </a:r>
            <a:endParaRPr lang="en-US" sz="1400" dirty="0"/>
          </a:p>
        </p:txBody>
      </p:sp>
      <p:pic>
        <p:nvPicPr>
          <p:cNvPr id="45" name="Image 2" descr="/tmp/claude-0/-home-user-data-manipulation-exercises/f19acac8-ccb4-5197-8e49-c3b6029ad477/scratchpad/texture-check/assets/arrow-bla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8688" y="5989320"/>
            <a:ext cx="274320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 PONTO DE PARTIDA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944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O mercado não para de mudar.</a:t>
            </a:r>
            <a:endParaRPr lang="en-US" sz="2800" dirty="0"/>
          </a:p>
          <a:p>
            <a:pPr indent="0" marL="0">
              <a:buNone/>
            </a:pPr>
            <a:r>
              <a:rPr lang="en-US" sz="28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 sua marca está lendo isso em tempo real?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743200"/>
            <a:ext cx="3454298" cy="3017520"/>
          </a:xfrm>
          <a:prstGeom prst="roundRect">
            <a:avLst>
              <a:gd name="adj" fmla="val 4242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3017520"/>
            <a:ext cx="29056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200%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3977640"/>
            <a:ext cx="290565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crescimento nas buscas por IA para descobrir produtos em 1 ano.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68698" y="2743200"/>
            <a:ext cx="3454298" cy="3017520"/>
          </a:xfrm>
          <a:prstGeom prst="roundRect">
            <a:avLst>
              <a:gd name="adj" fmla="val 4242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43018" y="3017520"/>
            <a:ext cx="29056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40%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643018" y="3977640"/>
            <a:ext cx="290565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jovens da Geração Z já não diferenciam experiências reais das virtuais.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88757" y="2743200"/>
            <a:ext cx="3454298" cy="3017520"/>
          </a:xfrm>
          <a:prstGeom prst="roundRect">
            <a:avLst>
              <a:gd name="adj" fmla="val 4242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63077" y="3017520"/>
            <a:ext cx="29056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64%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463077" y="3977640"/>
            <a:ext cx="290565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brasileiros declararam não consumir álcool em 2025 — e ainda assim, saem.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63550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fonte: Salesforce, Opinion Box, Estadão — .report agosto_26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7C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6172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2148840" y="6172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703320" y="6172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257800" y="6172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12280" y="6172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366760" y="6172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pic>
        <p:nvPicPr>
          <p:cNvPr id="8" name="Image 0" descr="/tmp/claude-0/-home-user-data-manipulation-exercises/f19acac8-ccb4-5197-8e49-c3b6029ad477/scratchpad/texture-check/assets/globe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85855" y="6080760"/>
            <a:ext cx="457200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411480"/>
            <a:ext cx="11094415" cy="5486400"/>
          </a:xfrm>
          <a:prstGeom prst="roundRect">
            <a:avLst>
              <a:gd name="adj" fmla="val 3333"/>
            </a:avLst>
          </a:prstGeom>
          <a:solidFill>
            <a:srgbClr val="000000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731520"/>
            <a:ext cx="46596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i="1" dirty="0">
                <a:solidFill>
                  <a:srgbClr val="FF7C51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AGENTIC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822960" y="1188720"/>
            <a:ext cx="4842534" cy="502920"/>
          </a:xfrm>
          <a:prstGeom prst="ellipse">
            <a:avLst/>
          </a:prstGeom>
          <a:ln w="19050">
            <a:solidFill>
              <a:srgbClr val="FF7C5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1188720"/>
            <a:ext cx="484253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FF7C51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SEARCH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914400" y="2011680"/>
            <a:ext cx="46596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7C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marca já apareceu numa resposta de IA hoje?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914400" y="2880360"/>
            <a:ext cx="465965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FF7C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uso de buscas por IA como primeiro passo para descobrir produtos cresceu 200% em um ano. Em vez de pesquisar no Google, consumidores estão começando a jornada de compra dentro de uma conversa com um assistente de IA.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FF7C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86% dos líderes de e-commerce dizem que a IA já elevou a expectativa dos consumidores — mas só 28% das marcas já usam IA agentiva. A adoção ainda está atrás do comportamento.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914400" y="5257800"/>
            <a:ext cx="46596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7C5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Buscas por IA para descobrir produtos cresceram 200% em 1 ano.</a:t>
            </a:r>
            <a:endParaRPr lang="en-US" sz="1000" dirty="0"/>
          </a:p>
        </p:txBody>
      </p:sp>
      <p:pic>
        <p:nvPicPr>
          <p:cNvPr id="16" name="Image 1" descr="/tmp/claude-0/-home-user-data-manipulation-exercises/f19acac8-ccb4-5197-8e49-c3b6029ad477/scratchpad/report-images/final/ig-agentic-search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031254" y="685800"/>
            <a:ext cx="5291761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48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2148840" y="548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703320" y="548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257800" y="548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12280" y="548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366760" y="548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pic>
        <p:nvPicPr>
          <p:cNvPr id="8" name="Image 0" descr="/tmp/claude-0/-home-user-data-manipulation-exercises/f19acac8-ccb4-5197-8e49-c3b6029ad477/scratchpad/texture-check/assets/globe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85855" y="457200"/>
            <a:ext cx="457200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1097280"/>
            <a:ext cx="11094415" cy="5486400"/>
          </a:xfrm>
          <a:prstGeom prst="roundRect">
            <a:avLst>
              <a:gd name="adj" fmla="val 3333"/>
            </a:avLst>
          </a:prstGeom>
          <a:solidFill>
            <a:srgbClr val="000000"/>
          </a:solidFill>
          <a:ln/>
        </p:spPr>
      </p:sp>
      <p:sp>
        <p:nvSpPr>
          <p:cNvPr id="10" name="Text 7"/>
          <p:cNvSpPr/>
          <p:nvPr/>
        </p:nvSpPr>
        <p:spPr>
          <a:xfrm>
            <a:off x="6617641" y="1417320"/>
            <a:ext cx="46596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HIPER-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6526201" y="1874520"/>
            <a:ext cx="4842534" cy="50292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26201" y="1874520"/>
            <a:ext cx="484253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REALIDADE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6617641" y="2697480"/>
            <a:ext cx="46596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ou offline? Pra Geração Z, já não faz diferença.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617641" y="3566160"/>
            <a:ext cx="465965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cultura digital deixou de existir só nas telas e passou a moldar a vida real. A fronteira entre o que é online e offline está desaparecendo, especialmente pra Geração Z.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do que distinguir o que é real ou gerado por IA, o que passa a importar pras marcas é a experiência que elas proporcionam — em qualquer um dos dois lados.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6617641" y="5943600"/>
            <a:ext cx="46596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40% dos jovens dizem que “é tudo real”, sem diferenciar o virtual do físico.</a:t>
            </a:r>
            <a:endParaRPr lang="en-US" sz="1000" dirty="0"/>
          </a:p>
        </p:txBody>
      </p:sp>
      <p:pic>
        <p:nvPicPr>
          <p:cNvPr id="16" name="Image 1" descr="/tmp/claude-0/-home-user-data-manipulation-exercises/f19acac8-ccb4-5197-8e49-c3b6029ad477/scratchpad/report-images/final/prospect-hiper-realidad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68680" y="1371600"/>
            <a:ext cx="5291761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24028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70332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16636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62940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09244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55548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01852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772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24028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7033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6636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62940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0924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55548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0185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7724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24028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70332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16636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2940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09244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55548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101852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7724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24028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70332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16636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62940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09244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55548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101852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7724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224028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370332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16636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62940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09244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955548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1101852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QUEM É A ARPEJO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48640" y="1005840"/>
            <a:ext cx="110944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“A técnica constrói.</a:t>
            </a:r>
            <a:endParaRPr lang="en-US" sz="3200" dirty="0"/>
          </a:p>
          <a:p>
            <a:pPr indent="0" marL="0">
              <a:buNone/>
            </a:pPr>
            <a:r>
              <a:rPr lang="en-US" sz="32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O improviso desconstrói.”</a:t>
            </a:r>
            <a:endParaRPr lang="en-US" sz="3200" dirty="0"/>
          </a:p>
        </p:txBody>
      </p:sp>
      <p:sp>
        <p:nvSpPr>
          <p:cNvPr id="44" name="Text 42"/>
          <p:cNvSpPr/>
          <p:nvPr/>
        </p:nvSpPr>
        <p:spPr>
          <a:xfrm>
            <a:off x="548640" y="2880360"/>
            <a:ext cx="6858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Somos uma agência de publicidade que, através da técnica, estudo e planejamento, constrói direcionais sólidos para então desconstruí-los através de soluções de comunicação fortes e verdadeiras.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548640" y="4572000"/>
            <a:ext cx="6858000" cy="1737360"/>
          </a:xfrm>
          <a:prstGeom prst="roundRect">
            <a:avLst>
              <a:gd name="adj" fmla="val 8421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68680" y="480060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“Good skills. Gold feeling.”</a:t>
            </a:r>
            <a:endParaRPr lang="en-US" sz="1800" dirty="0"/>
          </a:p>
        </p:txBody>
      </p:sp>
      <p:sp>
        <p:nvSpPr>
          <p:cNvPr id="47" name="Text 45"/>
          <p:cNvSpPr/>
          <p:nvPr/>
        </p:nvSpPr>
        <p:spPr>
          <a:xfrm>
            <a:off x="868680" y="539496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Acreditamos que o feeling não é o acaso, mas uma combinação de experiências, conhecimento, técnica aguçada e intuição.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8351215" y="2880360"/>
            <a:ext cx="3291840" cy="3429000"/>
          </a:xfrm>
          <a:prstGeom prst="roundRect">
            <a:avLst>
              <a:gd name="adj" fmla="val 4444"/>
            </a:avLst>
          </a:prstGeom>
          <a:solidFill>
            <a:srgbClr val="DAFF94"/>
          </a:solidFill>
          <a:ln/>
        </p:spPr>
      </p:sp>
      <p:sp>
        <p:nvSpPr>
          <p:cNvPr id="49" name="Text 47"/>
          <p:cNvSpPr/>
          <p:nvPr/>
        </p:nvSpPr>
        <p:spPr>
          <a:xfrm>
            <a:off x="8625535" y="320040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150+</a:t>
            </a:r>
            <a:endParaRPr lang="en-US" sz="5600" dirty="0"/>
          </a:p>
        </p:txBody>
      </p:sp>
      <p:sp>
        <p:nvSpPr>
          <p:cNvPr id="50" name="Text 48"/>
          <p:cNvSpPr/>
          <p:nvPr/>
        </p:nvSpPr>
        <p:spPr>
          <a:xfrm>
            <a:off x="8625535" y="44348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prêmios e reconhecimentos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8625535" y="498348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2222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Agência do Ano APP Campinas · Festival do Clube de Criação · Profissionais do Ano Rede Globo · FEPI · Mídia Festival APP Campinas · FestVídeo APP Ribeirão Preto · FestDigital · FestGraf APP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24028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70332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16636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62940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09244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55548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01852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772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24028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7033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6636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62940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0924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55548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0185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7724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24028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70332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16636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2940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09244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55548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101852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7724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24028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70332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16636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62940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09244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55548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101852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7724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224028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370332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16636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62940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09244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955548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1101852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PROVA — O QUE FIZEMOS ESSE MÊS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548640" y="1188720"/>
            <a:ext cx="5364328" cy="685800"/>
          </a:xfrm>
          <a:prstGeom prst="ellipse">
            <a:avLst/>
          </a:prstGeom>
          <a:ln w="1905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48640" y="1188720"/>
            <a:ext cx="5364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PagueVeloz — Dia dos Pais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548640" y="2194560"/>
            <a:ext cx="536432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 nome por trás do meu nome”: transformamos fachadas de comércio em homenagens aos pais que apoiaram o sonho de três empreendedores em São Paulo e Campinas.</a:t>
            </a:r>
            <a:endParaRPr lang="en-US" sz="1300" dirty="0"/>
          </a:p>
        </p:txBody>
      </p:sp>
      <p:sp>
        <p:nvSpPr>
          <p:cNvPr id="46" name="Text 44">
            <a:hlinkClick r:id="rId1" tooltip=""/>
          </p:cNvPr>
          <p:cNvSpPr/>
          <p:nvPr/>
        </p:nvSpPr>
        <p:spPr>
          <a:xfrm>
            <a:off x="548640" y="4572000"/>
            <a:ext cx="536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assistir ao case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6278728" y="1188720"/>
            <a:ext cx="5364328" cy="68580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78728" y="1188720"/>
            <a:ext cx="5364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Grupo Equatorial — Dia dos Pais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6278728" y="2194560"/>
            <a:ext cx="536432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Espelhos apagados em locais de grande circulação só acendem uma palavra quando a pessoa termina de contar o que herdou do pai — não na aparência, na atitude.</a:t>
            </a:r>
            <a:endParaRPr lang="en-US" sz="1300" dirty="0"/>
          </a:p>
        </p:txBody>
      </p:sp>
      <p:sp>
        <p:nvSpPr>
          <p:cNvPr id="50" name="Text 48">
            <a:hlinkClick r:id="rId2" tooltip=""/>
          </p:cNvPr>
          <p:cNvSpPr/>
          <p:nvPr/>
        </p:nvSpPr>
        <p:spPr>
          <a:xfrm>
            <a:off x="6278728" y="4572000"/>
            <a:ext cx="536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u="sng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assistir ao case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548640" y="53949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Campanhas de Dia dos Pais assinadas pela Arpejo em agosto/26.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AFF9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ata-manipulation-exercises/f19acac8-ccb4-5197-8e49-c3b6029ad477/scratchpad/texture-check/assets/globe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85855" y="457200"/>
            <a:ext cx="411480" cy="411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report↗</a:t>
            </a:r>
            <a:endParaRPr lang="en-US" sz="1200" dirty="0"/>
          </a:p>
        </p:txBody>
      </p:sp>
      <p:sp>
        <p:nvSpPr>
          <p:cNvPr id="4" name="Shape 1"/>
          <p:cNvSpPr/>
          <p:nvPr/>
        </p:nvSpPr>
        <p:spPr>
          <a:xfrm>
            <a:off x="548640" y="1143000"/>
            <a:ext cx="11094415" cy="5257800"/>
          </a:xfrm>
          <a:prstGeom prst="roundRect">
            <a:avLst>
              <a:gd name="adj" fmla="val 3478"/>
            </a:avLst>
          </a:prstGeom>
          <a:solidFill>
            <a:srgbClr val="000000"/>
          </a:solidFill>
          <a:ln/>
        </p:spPr>
      </p:sp>
      <p:sp>
        <p:nvSpPr>
          <p:cNvPr id="5" name="Text 2"/>
          <p:cNvSpPr/>
          <p:nvPr/>
        </p:nvSpPr>
        <p:spPr>
          <a:xfrm>
            <a:off x="960120" y="1508760"/>
            <a:ext cx="50900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O nosso diferencial: inteligência de mercado, todo mês.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960120" y="2971800"/>
            <a:ext cx="509000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Isso que você viu até agora — leitura de tendências de consumo, novidades de plataformas e cases que inspiram — é o nosso .report: um relatório proprietário que produzimos todo mês pra orientar as decisões dos nossos clientes.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fecha com a Arpejo não recebe só campanha. Recebe visão de mercado aplicada, com frequência mensal.</a:t>
            </a:r>
            <a:endParaRPr lang="en-US" sz="1350" dirty="0"/>
          </a:p>
        </p:txBody>
      </p:sp>
      <p:pic>
        <p:nvPicPr>
          <p:cNvPr id="7" name="Image 1" descr="/tmp/claude-0/-home-user-data-manipulation-exercises/f19acac8-ccb4-5197-8e49-c3b6029ad477/scratchpad/report-images/final/prospect-diferencial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61608" y="1463040"/>
            <a:ext cx="4861408" cy="4617720"/>
          </a:xfrm>
          <a:prstGeom prst="rect">
            <a:avLst/>
          </a:prstGeom>
        </p:spPr>
      </p:pic>
      <p:pic>
        <p:nvPicPr>
          <p:cNvPr id="8" name="Image 2" descr="/tmp/claude-0/-home-user-data-manipulation-exercises/f19acac8-ccb4-5197-8e49-c3b6029ad477/scratchpad/texture-check/assets/arrow-bla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11277295" y="594360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24028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70332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16636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62940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09244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55548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01852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772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24028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7033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6636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62940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0924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55548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0185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7724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24028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70332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16636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2940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09244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55548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101852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7724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24028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70332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16636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62940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09244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55548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101852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7724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224028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370332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16636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62940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09244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955548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1101852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pic>
        <p:nvPicPr>
          <p:cNvPr id="42" name="Image 0" descr="/tmp/claude-0/-home-user-data-manipulation-exercises/f19acac8-ccb4-5197-8e49-c3b6029ad477/scratchpad/texture-check/assets/arrow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16200000">
            <a:off x="320040" y="320040"/>
            <a:ext cx="292608" cy="292608"/>
          </a:xfrm>
          <a:prstGeom prst="rect">
            <a:avLst/>
          </a:prstGeom>
        </p:spPr>
      </p:pic>
      <p:pic>
        <p:nvPicPr>
          <p:cNvPr id="43" name="Image 1" descr="/tmp/claude-0/-home-user-data-manipulation-exercises/f19acac8-ccb4-5197-8e49-c3b6029ad477/scratchpad/texture-check/assets/arrow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79047" y="320040"/>
            <a:ext cx="292608" cy="292608"/>
          </a:xfrm>
          <a:prstGeom prst="rect">
            <a:avLst/>
          </a:prstGeom>
        </p:spPr>
      </p:pic>
      <p:pic>
        <p:nvPicPr>
          <p:cNvPr id="44" name="Image 2" descr="/tmp/claude-0/-home-user-data-manipulation-exercises/f19acac8-ccb4-5197-8e49-c3b6029ad477/scratchpad/texture-check/assets/arrow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320040" y="6245352"/>
            <a:ext cx="292608" cy="292608"/>
          </a:xfrm>
          <a:prstGeom prst="rect">
            <a:avLst/>
          </a:prstGeom>
        </p:spPr>
      </p:pic>
      <p:pic>
        <p:nvPicPr>
          <p:cNvPr id="45" name="Image 3" descr="/tmp/claude-0/-home-user-data-manipulation-exercises/f19acac8-ccb4-5197-8e49-c3b6029ad477/scratchpad/texture-check/assets/arrow-li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11579047" y="6245352"/>
            <a:ext cx="292608" cy="292608"/>
          </a:xfrm>
          <a:prstGeom prst="rect">
            <a:avLst/>
          </a:prstGeom>
        </p:spPr>
      </p:pic>
      <p:sp>
        <p:nvSpPr>
          <p:cNvPr id="46" name="Text 40"/>
          <p:cNvSpPr/>
          <p:nvPr/>
        </p:nvSpPr>
        <p:spPr>
          <a:xfrm>
            <a:off x="731520" y="2011680"/>
            <a:ext cx="107286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Vamos conversar sobre o que</a:t>
            </a:r>
            <a:endParaRPr lang="en-US" sz="3000" dirty="0"/>
          </a:p>
          <a:p>
            <a:pPr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essas tendências significam</a:t>
            </a:r>
            <a:endParaRPr lang="en-US" sz="3000" dirty="0"/>
          </a:p>
          <a:p>
            <a:pPr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pra sua marca?</a:t>
            </a:r>
            <a:endParaRPr lang="en-US" sz="3000" dirty="0"/>
          </a:p>
        </p:txBody>
      </p:sp>
      <p:sp>
        <p:nvSpPr>
          <p:cNvPr id="47" name="Text 41"/>
          <p:cNvSpPr/>
          <p:nvPr/>
        </p:nvSpPr>
        <p:spPr>
          <a:xfrm>
            <a:off x="731520" y="4754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fala com a gente → @arpejo</a:t>
            </a:r>
            <a:endParaRPr lang="en-US" sz="1300" dirty="0"/>
          </a:p>
        </p:txBody>
      </p:sp>
      <p:pic>
        <p:nvPicPr>
          <p:cNvPr id="48" name="Image 4" descr="../assets/arpejo-report-logo-all-bla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669280"/>
            <a:ext cx="2194560" cy="65784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2026-08-11T13:45:41Z</dcterms:created>
  <dcterms:modified xsi:type="dcterms:W3CDTF">2026-08-11T13:45:41Z</dcterms:modified>
</cp:coreProperties>
</file>