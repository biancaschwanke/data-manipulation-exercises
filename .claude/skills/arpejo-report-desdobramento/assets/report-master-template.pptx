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3716000" cx="24384000"/>
  <p:notesSz cx="6858000" cy="9144000"/>
  <p:embeddedFontLst>
    <p:embeddedFont>
      <p:font typeface="JetBrains Mono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Libre Baskerville"/>
      <p:regular r:id="rId27"/>
      <p:bold r:id="rId28"/>
      <p:italic r:id="rId29"/>
      <p:boldItalic r:id="rId30"/>
    </p:embeddedFont>
    <p:embeddedFont>
      <p:font typeface="Ubuntu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747775"/>
          </p15:clr>
        </p15:guide>
        <p15:guide id="2" pos="76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Felipe Pinheir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Medium-bold.fntdata"/><Relationship Id="rId22" Type="http://schemas.openxmlformats.org/officeDocument/2006/relationships/font" Target="fonts/JetBrainsMonoMedium-boldItalic.fntdata"/><Relationship Id="rId21" Type="http://schemas.openxmlformats.org/officeDocument/2006/relationships/font" Target="fonts/JetBrainsMono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LibreBaskerville-bold.fntdata"/><Relationship Id="rId27" Type="http://schemas.openxmlformats.org/officeDocument/2006/relationships/font" Target="fonts/LibreBaskervill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ibreBaskervill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buntuMono-regular.fntdata"/><Relationship Id="rId30" Type="http://schemas.openxmlformats.org/officeDocument/2006/relationships/font" Target="fonts/LibreBaskerville-boldItalic.fntdata"/><Relationship Id="rId11" Type="http://schemas.openxmlformats.org/officeDocument/2006/relationships/slide" Target="slides/slide5.xml"/><Relationship Id="rId33" Type="http://schemas.openxmlformats.org/officeDocument/2006/relationships/font" Target="fonts/UbuntuMono-italic.fntdata"/><Relationship Id="rId10" Type="http://schemas.openxmlformats.org/officeDocument/2006/relationships/slide" Target="slides/slide4.xml"/><Relationship Id="rId32" Type="http://schemas.openxmlformats.org/officeDocument/2006/relationships/font" Target="fonts/UbuntuMon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buntuMon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JetBrainsMonoMedium-regular.fntdata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03T13:22:26.625">
    <p:pos x="6000" y="0"/>
    <p:text>Esse é a ID do report. A nova marca Arpejo pra falar sobre tendências, estratégia e insights.
Junto do preto e branco, adicionamos 2 cores: verde e laranja. Podemos explorar essa paleta ao longo dos materiais.</p:text>
  </p:cm>
  <p:cm authorId="0" idx="2" dt="2026-06-03T13:27:16.452">
    <p:pos x="6000" y="100"/>
    <p:text>Precisamos aplicar essa ID nesses conteúdos abordados pelo time de planejamento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03T13:20:27.989">
    <p:pos x="6648" y="2106"/>
    <p:text>Podemos usar essa fonte em caixa alta sempre para títulos ou destaques.</p:text>
  </p:cm>
  <p:cm authorId="0" idx="4" dt="2026-06-03T13:20:45.847">
    <p:pos x="8084" y="3366"/>
    <p:text>Para textos longos usamos a Ubunto Mono.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93f7a83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93f7a83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2e9d39e6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2e9d39e6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a4b3dd35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a4b3dd35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39d81420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39d81420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4e84e53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74e84e53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899361b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899361b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899361bd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899361bd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578294d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578294d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39d81420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39d81420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39d81420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39d81420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2e9d39e6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2e9d39e6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1pPr>
            <a:lvl2pPr lvl="1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2pPr>
            <a:lvl3pPr lvl="2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3pPr>
            <a:lvl4pPr lvl="3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4pPr>
            <a:lvl5pPr lvl="4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5pPr>
            <a:lvl6pPr lvl="5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6pPr>
            <a:lvl7pPr lvl="6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7pPr>
            <a:lvl8pPr lvl="7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8pPr>
            <a:lvl9pPr lvl="8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66" lvl="1" marL="9144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2pPr>
            <a:lvl3pPr indent="-465666" lvl="2" marL="13716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3pPr>
            <a:lvl4pPr indent="-465666" lvl="3" marL="18288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4pPr>
            <a:lvl5pPr indent="-465667" lvl="4" marL="22860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5pPr>
            <a:lvl6pPr indent="-465667" lvl="5" marL="27432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6pPr>
            <a:lvl7pPr indent="-465667" lvl="6" marL="32004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7pPr>
            <a:lvl8pPr indent="-465667" lvl="7" marL="36576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8pPr>
            <a:lvl9pPr indent="-465667" lvl="8" marL="41148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831200" y="3073267"/>
            <a:ext cx="106665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5666" lvl="0" marL="4572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2886400" y="3073267"/>
            <a:ext cx="106665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5666" lvl="0" marL="4572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1200" y="1481600"/>
            <a:ext cx="7488000" cy="20151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1200" y="3705600"/>
            <a:ext cx="7488000" cy="8478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307333" y="1200400"/>
            <a:ext cx="16980900" cy="10908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2192000" y="-333"/>
            <a:ext cx="12192000" cy="137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08000" y="3288467"/>
            <a:ext cx="10787100" cy="39528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708000" y="7474867"/>
            <a:ext cx="10787100" cy="3293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3172000" y="1930867"/>
            <a:ext cx="10232100" cy="98535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66" lvl="1" marL="9144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2pPr>
            <a:lvl3pPr indent="-465666" lvl="2" marL="13716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3pPr>
            <a:lvl4pPr indent="-465666" lvl="3" marL="18288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4pPr>
            <a:lvl5pPr indent="-465667" lvl="4" marL="22860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5pPr>
            <a:lvl6pPr indent="-465667" lvl="5" marL="27432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6pPr>
            <a:lvl7pPr indent="-465667" lvl="6" marL="32004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7pPr>
            <a:lvl8pPr indent="-465667" lvl="7" marL="36576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8pPr>
            <a:lvl9pPr indent="-465667" lvl="8" marL="41148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1200" y="11281533"/>
            <a:ext cx="15996900" cy="1613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831200" y="2949667"/>
            <a:ext cx="22721700" cy="52359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1200" y="8405933"/>
            <a:ext cx="22721700" cy="34689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66" lvl="1" marL="914400" algn="ctr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2pPr>
            <a:lvl3pPr indent="-465666" lvl="2" marL="1371600" algn="ctr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3pPr>
            <a:lvl4pPr indent="-465666" lvl="3" marL="1828800" algn="ctr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4pPr>
            <a:lvl5pPr indent="-465667" lvl="4" marL="2286000" algn="ctr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5pPr>
            <a:lvl6pPr indent="-465667" lvl="5" marL="2743200" algn="ctr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6pPr>
            <a:lvl7pPr indent="-465667" lvl="6" marL="3200400" algn="ctr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7pPr>
            <a:lvl8pPr indent="-465667" lvl="7" marL="3657600" algn="ctr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8pPr>
            <a:lvl9pPr indent="-465667" lvl="8" marL="4114800" algn="ctr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1pPr>
            <a:lvl2pPr indent="-465666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○"/>
              <a:defRPr sz="3733">
                <a:solidFill>
                  <a:schemeClr val="dk2"/>
                </a:solidFill>
              </a:defRPr>
            </a:lvl2pPr>
            <a:lvl3pPr indent="-465666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■"/>
              <a:defRPr sz="3733">
                <a:solidFill>
                  <a:schemeClr val="dk2"/>
                </a:solidFill>
              </a:defRPr>
            </a:lvl3pPr>
            <a:lvl4pPr indent="-465666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●"/>
              <a:defRPr sz="3733">
                <a:solidFill>
                  <a:schemeClr val="dk2"/>
                </a:solidFill>
              </a:defRPr>
            </a:lvl4pPr>
            <a:lvl5pPr indent="-465667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○"/>
              <a:defRPr sz="3733">
                <a:solidFill>
                  <a:schemeClr val="dk2"/>
                </a:solidFill>
              </a:defRPr>
            </a:lvl5pPr>
            <a:lvl6pPr indent="-465667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■"/>
              <a:defRPr sz="3733">
                <a:solidFill>
                  <a:schemeClr val="dk2"/>
                </a:solidFill>
              </a:defRPr>
            </a:lvl6pPr>
            <a:lvl7pPr indent="-465667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●"/>
              <a:defRPr sz="3733">
                <a:solidFill>
                  <a:schemeClr val="dk2"/>
                </a:solidFill>
              </a:defRPr>
            </a:lvl7pPr>
            <a:lvl8pPr indent="-465667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○"/>
              <a:defRPr sz="3733">
                <a:solidFill>
                  <a:schemeClr val="dk2"/>
                </a:solidFill>
              </a:defRPr>
            </a:lvl8pPr>
            <a:lvl9pPr indent="-46566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■"/>
              <a:defRPr sz="3733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r">
              <a:buNone/>
              <a:defRPr sz="2667">
                <a:solidFill>
                  <a:schemeClr val="dk2"/>
                </a:solidFill>
              </a:defRPr>
            </a:lvl1pPr>
            <a:lvl2pPr lvl="1" algn="r">
              <a:buNone/>
              <a:defRPr sz="2667">
                <a:solidFill>
                  <a:schemeClr val="dk2"/>
                </a:solidFill>
              </a:defRPr>
            </a:lvl2pPr>
            <a:lvl3pPr lvl="2" algn="r">
              <a:buNone/>
              <a:defRPr sz="2667">
                <a:solidFill>
                  <a:schemeClr val="dk2"/>
                </a:solidFill>
              </a:defRPr>
            </a:lvl3pPr>
            <a:lvl4pPr lvl="3" algn="r">
              <a:buNone/>
              <a:defRPr sz="2667">
                <a:solidFill>
                  <a:schemeClr val="dk2"/>
                </a:solidFill>
              </a:defRPr>
            </a:lvl4pPr>
            <a:lvl5pPr lvl="4" algn="r">
              <a:buNone/>
              <a:defRPr sz="2667">
                <a:solidFill>
                  <a:schemeClr val="dk2"/>
                </a:solidFill>
              </a:defRPr>
            </a:lvl5pPr>
            <a:lvl6pPr lvl="5" algn="r">
              <a:buNone/>
              <a:defRPr sz="2667">
                <a:solidFill>
                  <a:schemeClr val="dk2"/>
                </a:solidFill>
              </a:defRPr>
            </a:lvl6pPr>
            <a:lvl7pPr lvl="6" algn="r">
              <a:buNone/>
              <a:defRPr sz="2667">
                <a:solidFill>
                  <a:schemeClr val="dk2"/>
                </a:solidFill>
              </a:defRPr>
            </a:lvl7pPr>
            <a:lvl8pPr lvl="7" algn="r">
              <a:buNone/>
              <a:defRPr sz="2667">
                <a:solidFill>
                  <a:schemeClr val="dk2"/>
                </a:solidFill>
              </a:defRPr>
            </a:lvl8pPr>
            <a:lvl9pPr lvl="8" algn="r">
              <a:buNone/>
              <a:defRPr sz="2667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9.jp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youtube.com/watch?v=gb--qFyFYoE" TargetMode="External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9.jp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rid-verde.png"/>
          <p:cNvPicPr preferRelativeResize="0"/>
          <p:nvPr/>
        </p:nvPicPr>
        <p:blipFill rotWithShape="1">
          <a:blip r:embed="rId4">
            <a:alphaModFix/>
          </a:blip>
          <a:srcRect b="0" l="941" r="0" t="0"/>
          <a:stretch/>
        </p:blipFill>
        <p:spPr>
          <a:xfrm>
            <a:off x="153651" y="50"/>
            <a:ext cx="24153523" cy="137159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7832930" y="5183060"/>
            <a:ext cx="8635200" cy="32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sset 8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73315" y="5838366"/>
            <a:ext cx="6511652" cy="195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FF9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 rot="5400000">
            <a:off x="21738310" y="11082261"/>
            <a:ext cx="1404399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>
            <a:off x="21735849" y="1244227"/>
            <a:ext cx="1404399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 rot="-5400000">
            <a:off x="1241290" y="1246689"/>
            <a:ext cx="1404399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 rot="10800000">
            <a:off x="1243752" y="11073247"/>
            <a:ext cx="1404399" cy="1398526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623400" y="5370750"/>
            <a:ext cx="111372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9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ESSE É UM GRID</a:t>
            </a:r>
            <a:endParaRPr i="1" sz="9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9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 MARGENS.</a:t>
            </a:r>
            <a:endParaRPr i="1" sz="9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FF94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Asset 13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2300" y="1111378"/>
            <a:ext cx="1239400" cy="3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grid-preto.png"/>
          <p:cNvPicPr preferRelativeResize="0"/>
          <p:nvPr/>
        </p:nvPicPr>
        <p:blipFill rotWithShape="1">
          <a:blip r:embed="rId5">
            <a:alphaModFix/>
          </a:blip>
          <a:srcRect b="0" l="1932" r="0" t="91725"/>
          <a:stretch/>
        </p:blipFill>
        <p:spPr>
          <a:xfrm>
            <a:off x="304500" y="12581075"/>
            <a:ext cx="23913250" cy="11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small_NK8PWJ0M.jpg"/>
          <p:cNvPicPr preferRelativeResize="0"/>
          <p:nvPr/>
        </p:nvPicPr>
        <p:blipFill rotWithShape="1">
          <a:blip r:embed="rId6">
            <a:alphaModFix/>
          </a:blip>
          <a:srcRect b="0" l="5481" r="36396" t="0"/>
          <a:stretch/>
        </p:blipFill>
        <p:spPr>
          <a:xfrm>
            <a:off x="2436600" y="2983025"/>
            <a:ext cx="8711100" cy="8431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10180300" y="2950275"/>
            <a:ext cx="10131900" cy="1854000"/>
          </a:xfrm>
          <a:prstGeom prst="ellipse">
            <a:avLst/>
          </a:prstGeom>
          <a:noFill/>
          <a:ln cap="flat" cmpd="sng" w="31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825" spcFirstLastPara="1" rIns="100825" wrap="square" tIns="5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5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0554185" y="3344328"/>
            <a:ext cx="9352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6616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LOREM</a:t>
            </a:r>
            <a:endParaRPr b="0" i="1" sz="6616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2833948" y="5343725"/>
            <a:ext cx="7288200" cy="60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 crescimento do uso de medicamentos GLP-1 está transformando a relação das pessoas com a alimentação. Com menos apetite e redução das compulsões, consumidores passam a priorizar snacks mais nutritivos, ricos em proteína, fibras e gorduras saudáveis, enquanto alimentos ultraprocessados e indulgentes perdem espaço.</a:t>
            </a:r>
            <a:endParaRPr sz="180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Mas essa mudança também revela um efeito emocional importante: embora as escolhas alimentares estejam mais funcionais e equilibradas, muitos consumidores sentem falta do prazer associado ao ato de comer. Os novos snacks são vistos como práticos e eficientes, porém pouco estimulantes em sabor, textura e experiência sensorial.</a:t>
            </a:r>
            <a:endParaRPr sz="180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 alimentação deixa de ocupar um lugar de recompensa emocional e passa a funcionar quase como uma rotina calculada de nutrição e saciedade. O resultado é uma sensação de desconexão e perda de prazer associada à comida, fenômeno que começa a ser apelidado de “personalidade Ozempic”, marcado por relatos de apatia, baixa motivação e redução da sensação de recompensa.</a:t>
            </a:r>
            <a:endParaRPr sz="180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pic>
        <p:nvPicPr>
          <p:cNvPr id="76" name="Google Shape;76;p15" title="Asset 11@2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36371" y="3588451"/>
            <a:ext cx="587100" cy="5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Asset 6@2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6687" y="1244226"/>
            <a:ext cx="1398523" cy="35439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21151296" y="1127875"/>
            <a:ext cx="19860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março_26</a:t>
            </a:r>
            <a:endParaRPr sz="2400" u="none" cap="none" strike="noStrike">
              <a:solidFill>
                <a:schemeClr val="dk1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pic>
        <p:nvPicPr>
          <p:cNvPr id="79" name="Google Shape;79;p15" title="Asset 3@2x.png"/>
          <p:cNvPicPr preferRelativeResize="0"/>
          <p:nvPr/>
        </p:nvPicPr>
        <p:blipFill rotWithShape="1">
          <a:blip r:embed="rId9">
            <a:alphaModFix/>
          </a:blip>
          <a:srcRect b="60" l="0" r="0" t="50"/>
          <a:stretch/>
        </p:blipFill>
        <p:spPr>
          <a:xfrm rot="5400000">
            <a:off x="21738310" y="11082261"/>
            <a:ext cx="1404399" cy="139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 title="Screenshot 2026-05-21 at 10.24.11.png"/>
          <p:cNvPicPr preferRelativeResize="0"/>
          <p:nvPr/>
        </p:nvPicPr>
        <p:blipFill rotWithShape="1">
          <a:blip r:embed="rId3">
            <a:alphaModFix amt="30000"/>
          </a:blip>
          <a:srcRect b="7813" l="0" r="0" t="7813"/>
          <a:stretch/>
        </p:blipFill>
        <p:spPr>
          <a:xfrm>
            <a:off x="0" y="0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2027275" y="1245075"/>
            <a:ext cx="9662700" cy="11238600"/>
          </a:xfrm>
          <a:prstGeom prst="roundRect">
            <a:avLst>
              <a:gd fmla="val 6470" name="adj"/>
            </a:avLst>
          </a:prstGeom>
          <a:solidFill>
            <a:srgbClr val="DAFF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2027275" y="2796375"/>
            <a:ext cx="96627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SLOW-LIVING COMO </a:t>
            </a:r>
            <a:endParaRPr i="1" sz="5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STATUS DE LUXO</a:t>
            </a:r>
            <a:endParaRPr i="1" sz="5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87" name="Google Shape;87;p16" title="Asset 1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1738310" y="11082261"/>
            <a:ext cx="1404400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Asset 10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37475" y="1245075"/>
            <a:ext cx="402301" cy="40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74744" y="1245064"/>
            <a:ext cx="920162" cy="4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title="Screenshot 2026-05-21 at 10.24.11.png"/>
          <p:cNvPicPr preferRelativeResize="0"/>
          <p:nvPr/>
        </p:nvPicPr>
        <p:blipFill rotWithShape="1">
          <a:blip r:embed="rId3">
            <a:alphaModFix/>
          </a:blip>
          <a:srcRect b="0" l="0" r="2344" t="0"/>
          <a:stretch/>
        </p:blipFill>
        <p:spPr>
          <a:xfrm>
            <a:off x="2502975" y="6047100"/>
            <a:ext cx="8711100" cy="5946600"/>
          </a:xfrm>
          <a:prstGeom prst="roundRect">
            <a:avLst>
              <a:gd fmla="val 6534" name="adj"/>
            </a:avLst>
          </a:prstGeom>
          <a:solidFill>
            <a:schemeClr val="dk1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FF9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 title="Asset 13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300" y="1111378"/>
            <a:ext cx="1239400" cy="3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 title="Asset 6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6687" y="1244226"/>
            <a:ext cx="1398523" cy="3543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21151296" y="1127875"/>
            <a:ext cx="19860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março_26</a:t>
            </a:r>
            <a:endParaRPr sz="2400" u="none" cap="none" strike="noStrike">
              <a:solidFill>
                <a:schemeClr val="dk1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pic>
        <p:nvPicPr>
          <p:cNvPr id="98" name="Google Shape;98;p17" title="Asset 3@2x.png"/>
          <p:cNvPicPr preferRelativeResize="0"/>
          <p:nvPr/>
        </p:nvPicPr>
        <p:blipFill rotWithShape="1">
          <a:blip r:embed="rId5">
            <a:alphaModFix/>
          </a:blip>
          <a:srcRect b="60" l="0" r="0" t="50"/>
          <a:stretch/>
        </p:blipFill>
        <p:spPr>
          <a:xfrm rot="5400000">
            <a:off x="21738310" y="11082261"/>
            <a:ext cx="1404399" cy="13985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12465774" y="3509400"/>
            <a:ext cx="7340100" cy="6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 conveniência deixou de ser apenas um diferencial e passou a ocupar um papel central na decisão de compra dos consumidores. Em um contexto de excesso de estímulos, sobrecarga mental e rotinas cada vez mais aceleradas, praticidade significa reduzir fricções, economizar tempo e tornar o cotidiano mais leve.</a:t>
            </a:r>
            <a:endParaRPr sz="180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Esse movimento impulsiona soluções que simplificam tarefas e diminuem o esforço físico e mental dos consumidores, como entregas rápidas, refeições prontas, experiências integradas entre físico e digital, assinaturas automatizadas e ferramentas personalizadas por tecnologia e IA.</a:t>
            </a:r>
            <a:endParaRPr sz="180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Mais do que rapidez, a conveniência passa a funcionar como uma forma de conforto emocional. Consumidores valorizam marcas que ajudam a organizar a rotina, reduzem o excesso de escolhas e oferecem experiências intuitivas, fluidas e sem complicação. Nesse cenário, conveniência deixa de ser apenas eficiência operacional e se transforma em uma nova forma de cuidado com o tempo e a energia das pessoas. </a:t>
            </a:r>
            <a:endParaRPr sz="1800">
              <a:solidFill>
                <a:srgbClr val="000000"/>
              </a:solidFill>
              <a:latin typeface="Ubuntu Mono"/>
              <a:ea typeface="Ubuntu Mono"/>
              <a:cs typeface="Ubuntu Mono"/>
              <a:sym typeface="Ubuntu Mono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969475" y="5467625"/>
            <a:ext cx="8047500" cy="22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7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FUNCTIONAL </a:t>
            </a:r>
            <a:endParaRPr i="1" sz="7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72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INDULGENCE</a:t>
            </a:r>
            <a:endParaRPr i="1" sz="72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É oficial! O João Gomes entrou pra família Vitarella e, de quebra, ainda trouxe a Vovó Josilene junto. Espia só essa história linda com muito aconchego, gostinho de lar e Vita. E tem muito mais chegando, visse?&#10;&#10;#Vitarella #TodoLarTemVita" id="105" name="Google Shape;105;p18" title="Vitarella e João Gom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7245" y="2782824"/>
            <a:ext cx="14489500" cy="81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9" title="grid-verde.png"/>
          <p:cNvPicPr preferRelativeResize="0"/>
          <p:nvPr/>
        </p:nvPicPr>
        <p:blipFill rotWithShape="1">
          <a:blip r:embed="rId3">
            <a:alphaModFix/>
          </a:blip>
          <a:srcRect b="0" l="171" r="-754" t="0"/>
          <a:stretch/>
        </p:blipFill>
        <p:spPr>
          <a:xfrm>
            <a:off x="-32325" y="50"/>
            <a:ext cx="24525475" cy="13715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/>
          <p:nvPr/>
        </p:nvSpPr>
        <p:spPr>
          <a:xfrm>
            <a:off x="7832930" y="5183060"/>
            <a:ext cx="8635200" cy="32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9801" y="5821700"/>
            <a:ext cx="6924426" cy="207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C5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 rot="5400000">
            <a:off x="21738310" y="11082261"/>
            <a:ext cx="1404399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>
            <a:off x="21735849" y="1244227"/>
            <a:ext cx="1404399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 rot="-5400000">
            <a:off x="1241290" y="1246689"/>
            <a:ext cx="1404399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 title="Asset 3@2x.png"/>
          <p:cNvPicPr preferRelativeResize="0"/>
          <p:nvPr/>
        </p:nvPicPr>
        <p:blipFill rotWithShape="1">
          <a:blip r:embed="rId3">
            <a:alphaModFix/>
          </a:blip>
          <a:srcRect b="60" l="0" r="0" t="50"/>
          <a:stretch/>
        </p:blipFill>
        <p:spPr>
          <a:xfrm rot="10800000">
            <a:off x="1243752" y="11073247"/>
            <a:ext cx="1404399" cy="139852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0"/>
          <p:cNvSpPr txBox="1"/>
          <p:nvPr/>
        </p:nvSpPr>
        <p:spPr>
          <a:xfrm>
            <a:off x="6623400" y="5370750"/>
            <a:ext cx="111372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9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ESSE É UM GRID</a:t>
            </a:r>
            <a:endParaRPr i="1" sz="9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9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 MARGEM.</a:t>
            </a:r>
            <a:endParaRPr i="1" sz="9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7C5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 title="Asset 13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2300" y="1111378"/>
            <a:ext cx="1239400" cy="3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 title="grid-preto.png"/>
          <p:cNvPicPr preferRelativeResize="0"/>
          <p:nvPr/>
        </p:nvPicPr>
        <p:blipFill rotWithShape="1">
          <a:blip r:embed="rId4">
            <a:alphaModFix/>
          </a:blip>
          <a:srcRect b="0" l="0" r="0" t="88982"/>
          <a:stretch/>
        </p:blipFill>
        <p:spPr>
          <a:xfrm>
            <a:off x="0" y="12204789"/>
            <a:ext cx="24384000" cy="151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 title="small_NK8PWJ0M.jpg"/>
          <p:cNvPicPr preferRelativeResize="0"/>
          <p:nvPr/>
        </p:nvPicPr>
        <p:blipFill rotWithShape="1">
          <a:blip r:embed="rId5">
            <a:alphaModFix/>
          </a:blip>
          <a:srcRect b="0" l="5481" r="36396" t="0"/>
          <a:stretch/>
        </p:blipFill>
        <p:spPr>
          <a:xfrm>
            <a:off x="2436600" y="2983025"/>
            <a:ext cx="8711100" cy="8431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sp>
        <p:nvSpPr>
          <p:cNvPr id="129" name="Google Shape;129;p21"/>
          <p:cNvSpPr/>
          <p:nvPr/>
        </p:nvSpPr>
        <p:spPr>
          <a:xfrm>
            <a:off x="10180300" y="3255075"/>
            <a:ext cx="10131900" cy="1854000"/>
          </a:xfrm>
          <a:prstGeom prst="ellipse">
            <a:avLst/>
          </a:prstGeom>
          <a:noFill/>
          <a:ln cap="flat" cmpd="sng" w="31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375" lIns="100825" spcFirstLastPara="1" rIns="100825" wrap="square" tIns="50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85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10554185" y="3649128"/>
            <a:ext cx="93525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pt-BR" sz="6616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LOREM</a:t>
            </a:r>
            <a:endParaRPr b="0" i="1" sz="6616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31" name="Google Shape;131;p21" title="Asset 3@2x.png"/>
          <p:cNvPicPr preferRelativeResize="0"/>
          <p:nvPr/>
        </p:nvPicPr>
        <p:blipFill rotWithShape="1">
          <a:blip r:embed="rId6">
            <a:alphaModFix/>
          </a:blip>
          <a:srcRect b="60" l="0" r="0" t="50"/>
          <a:stretch/>
        </p:blipFill>
        <p:spPr>
          <a:xfrm rot="5400000">
            <a:off x="21789560" y="10332761"/>
            <a:ext cx="1404399" cy="1398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12833953" y="5833700"/>
            <a:ext cx="4824600" cy="5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O crescimento do uso de medicamentos GLP-1 está transformando a relação das pessoas com a alimentação. Com menos apetite e redução das compulsões, consumidores passam a priorizar snacks mais nutritivos, ricos em proteína, fibras e gorduras saudáveis, enquanto alimentos ultraprocessados e indulgentes perdem espaço.</a:t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Mas essa mudança também revela um efeito emocional importante: embora as escolhas alimentares estejam mais funcionais e equilibradas, muitos consumidores sentem falta do prazer associado ao ato de comer. Os novos snacks são vistos como práticos e eficientes, porém pouco estimulantes em sabor, textura e experiência sensorial.</a:t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 alimentação deixa de ocupar um lugar de recompensa emocional e passa a funcionar quase como uma rotina calculada de nutrição e saciedade. O resultado é uma sensação de desconexão e perda de prazer associada à comida, fenômeno que começa a ser apelidado de “personalidade Ozempic”, marcado por relatos de apatia, baixa motivação e redução da sensação de recompensa.</a:t>
            </a:r>
            <a:endParaRPr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33" name="Google Shape;133;p21" title="Asset 11@2x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36371" y="3893251"/>
            <a:ext cx="587100" cy="5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Asset 6@2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6687" y="1244226"/>
            <a:ext cx="1398523" cy="35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21151296" y="1127875"/>
            <a:ext cx="19860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março_26</a:t>
            </a:r>
            <a:endParaRPr sz="2400" u="none" cap="none" strike="noStrike">
              <a:solidFill>
                <a:schemeClr val="dk1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 title="grid-verde.png"/>
          <p:cNvPicPr preferRelativeResize="0"/>
          <p:nvPr/>
        </p:nvPicPr>
        <p:blipFill rotWithShape="1">
          <a:blip r:embed="rId3">
            <a:alphaModFix/>
          </a:blip>
          <a:srcRect b="0" l="941" r="0" t="0"/>
          <a:stretch/>
        </p:blipFill>
        <p:spPr>
          <a:xfrm>
            <a:off x="115238" y="25"/>
            <a:ext cx="24153523" cy="13715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/>
          <p:nvPr/>
        </p:nvSpPr>
        <p:spPr>
          <a:xfrm>
            <a:off x="7832930" y="5183060"/>
            <a:ext cx="8635200" cy="328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2" title="Asset 8@2x.png"/>
          <p:cNvPicPr preferRelativeResize="0"/>
          <p:nvPr/>
        </p:nvPicPr>
        <p:blipFill rotWithShape="1">
          <a:blip r:embed="rId4">
            <a:alphaModFix/>
          </a:blip>
          <a:srcRect b="0" l="278" r="278" t="0"/>
          <a:stretch/>
        </p:blipFill>
        <p:spPr>
          <a:xfrm>
            <a:off x="1243310" y="1232424"/>
            <a:ext cx="1239400" cy="3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 title="Asset 4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74600" y="6032935"/>
            <a:ext cx="6511626" cy="16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3" title="Asset 1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1738310" y="11082261"/>
            <a:ext cx="1404400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 title="Asset 1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5849" y="1244227"/>
            <a:ext cx="1404400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 title="Asset 1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241290" y="1246688"/>
            <a:ext cx="1404400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 title="Asset 1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243751" y="11073247"/>
            <a:ext cx="1404400" cy="1398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6623400" y="5370750"/>
            <a:ext cx="11137200" cy="29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9600">
                <a:solidFill>
                  <a:srgbClr val="DAFF9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ESSE É UM GRID</a:t>
            </a:r>
            <a:endParaRPr i="1" sz="9600">
              <a:solidFill>
                <a:srgbClr val="DAFF94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9600">
                <a:solidFill>
                  <a:srgbClr val="DAFF94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 MARGENS.</a:t>
            </a:r>
            <a:endParaRPr i="1" sz="9600">
              <a:solidFill>
                <a:srgbClr val="DAFF94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53" name="Google Shape;153;p23" title="Asset 10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9700" y="1245075"/>
            <a:ext cx="402301" cy="40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6969" y="1245064"/>
            <a:ext cx="920162" cy="4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4" title="Screenshot 2026-05-21 at 10.24.11.png"/>
          <p:cNvPicPr preferRelativeResize="0"/>
          <p:nvPr/>
        </p:nvPicPr>
        <p:blipFill rotWithShape="1">
          <a:blip r:embed="rId3">
            <a:alphaModFix amt="30000"/>
          </a:blip>
          <a:srcRect b="7813" l="0" r="0" t="7813"/>
          <a:stretch/>
        </p:blipFill>
        <p:spPr>
          <a:xfrm>
            <a:off x="0" y="0"/>
            <a:ext cx="24384000" cy="1371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4"/>
          <p:cNvSpPr/>
          <p:nvPr/>
        </p:nvSpPr>
        <p:spPr>
          <a:xfrm>
            <a:off x="2027275" y="1245075"/>
            <a:ext cx="9662700" cy="11238600"/>
          </a:xfrm>
          <a:prstGeom prst="roundRect">
            <a:avLst>
              <a:gd fmla="val 6470" name="adj"/>
            </a:avLst>
          </a:prstGeom>
          <a:solidFill>
            <a:srgbClr val="DAFF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/>
        </p:nvSpPr>
        <p:spPr>
          <a:xfrm>
            <a:off x="2027275" y="2796375"/>
            <a:ext cx="96627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400" lIns="50400" spcFirstLastPara="1" rIns="50400" wrap="square" tIns="50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SLOW</a:t>
            </a:r>
            <a:r>
              <a:rPr i="1" lang="pt-BR" sz="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</a:t>
            </a:r>
            <a:r>
              <a:rPr i="1" lang="pt-BR" sz="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LIVING COMO </a:t>
            </a:r>
            <a:endParaRPr i="1" sz="5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STATUS DE LUXO</a:t>
            </a:r>
            <a:endParaRPr i="1" sz="5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62" name="Google Shape;162;p24" title="Asset 1@2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21738310" y="11082261"/>
            <a:ext cx="1404400" cy="139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 title="Asset 10@2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737475" y="1245075"/>
            <a:ext cx="402301" cy="40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74744" y="1245064"/>
            <a:ext cx="920162" cy="40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 title="Screenshot 2026-05-21 at 10.24.11.png"/>
          <p:cNvPicPr preferRelativeResize="0"/>
          <p:nvPr/>
        </p:nvPicPr>
        <p:blipFill rotWithShape="1">
          <a:blip r:embed="rId3">
            <a:alphaModFix/>
          </a:blip>
          <a:srcRect b="0" l="0" r="2344" t="0"/>
          <a:stretch/>
        </p:blipFill>
        <p:spPr>
          <a:xfrm>
            <a:off x="2502975" y="6047100"/>
            <a:ext cx="8711100" cy="5946600"/>
          </a:xfrm>
          <a:prstGeom prst="roundRect">
            <a:avLst>
              <a:gd fmla="val 6534" name="adj"/>
            </a:avLst>
          </a:prstGeom>
          <a:solidFill>
            <a:schemeClr val="dk1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